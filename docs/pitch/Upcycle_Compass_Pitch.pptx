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1" r:id="rId6"/>
    <p:sldId id="260" r:id="rId7"/>
    <p:sldId id="264" r:id="rId8"/>
    <p:sldId id="266" r:id="rId9"/>
    <p:sldId id="267" r:id="rId10"/>
    <p:sldId id="269" r:id="rId17"/>
    <p:sldId id="268"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357D1695-D3BC-1929-21C1-A6D7C614A1D5}">
          <p14:sldIdLst>
            <p14:sldId id="256"/>
            <p14:sldId id="257"/>
            <p14:sldId id="258"/>
            <p14:sldId id="259"/>
            <p14:sldId id="261"/>
            <p14:sldId id="260"/>
            <p14:sldId id="264"/>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0" d="100"/>
          <a:sy n="90" d="100"/>
        </p:scale>
        <p:origin x="192" y="18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chemeClr val="tx2"/>
                </a:solidFill>
                <a:latin typeface="Arial"/>
              </a:rPr>
              <a:t>Imported pea isolate, landed ₹ per kg protein (P50)</a:t>
            </a:r>
          </a:p>
        </c:rich>
      </c:tx>
      <c:layout/>
      <c:overlay val="0"/>
    </c:title>
    <c:autoTitleDeleted val="0"/>
    <c:plotArea>
      <c:barChart>
        <c:barDir val="bar"/>
        <c:grouping val="clustered"/>
        <c:ser>
          <c:idx val="0"/>
          <c:order val="0"/>
          <c:tx>
            <c:strRef>
              <c:f>Sheet1!$B$1</c:f>
              <c:strCache>
                <c:ptCount val="1"/>
                <c:pt idx="0">
                  <c:v>Landed ₹/kg protein (P50)</c:v>
                </c:pt>
              </c:strCache>
            </c:strRef>
          </c:tx>
          <c:spPr>
            <a:solidFill>
              <a:schemeClr val="accent1"/>
            </a:solidFill>
          </c:spPr>
          <c:dPt>
            <c:idx val="0"/>
            <c:spPr>
              <a:solidFill>
                <a:schemeClr val="tx2"/>
              </a:solidFill>
            </c:spPr>
          </c:dPt>
          <c:cat>
            <c:strRef>
              <c:f>Sheet1!$A$2:$A$5</c:f>
              <c:strCache>
                <c:ptCount val="4"/>
                <c:pt idx="0">
                  <c:v>Base case</c:v>
                </c:pt>
                <c:pt idx="1">
                  <c:v>INR at 105/USD</c:v>
                </c:pt>
                <c:pt idx="2">
                  <c:v>Freight +20%</c:v>
                </c:pt>
                <c:pt idx="3">
                  <c:v>Pea price +25%</c:v>
                </c:pt>
              </c:strCache>
            </c:strRef>
          </c:cat>
          <c:val>
            <c:numRef>
              <c:f>Sheet1!$B$2:$B$5</c:f>
              <c:numCache>
                <c:formatCode>General</c:formatCode>
                <c:ptCount val="4"/>
                <c:pt idx="0">
                  <c:v>518</c:v>
                </c:pt>
                <c:pt idx="1">
                  <c:v>565</c:v>
                </c:pt>
                <c:pt idx="2">
                  <c:v>526</c:v>
                </c:pt>
                <c:pt idx="3">
                  <c:v>648</c:v>
                </c:pt>
              </c:numCache>
            </c:numRef>
          </c:val>
        </c:ser>
        <c:dLbls>
          <c:numFmt formatCode="&quot;₹&quot;#,##0" sourceLinked="0"/>
          <c:txPr>
            <a:bodyPr/>
            <a:lstStyle/>
            <a:p>
              <a:pPr>
                <a:defRPr sz="1200">
                  <a:solidFill>
                    <a:schemeClr val="tx2"/>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chemeClr val="accent4"/>
            </a:solidFill>
          </a:ln>
        </c:spPr>
        <c:txPr>
          <a:bodyPr/>
          <a:lstStyle/>
          <a:p>
            <a:pPr>
              <a:defRPr sz="1200">
                <a:solidFill>
                  <a:schemeClr val="tx2"/>
                </a:solidFill>
                <a:latin typeface="Arial"/>
              </a:defRPr>
            </a:pPr>
          </a:p>
        </c:txPr>
        <c:crossAx val="-2113994440"/>
        <c:crosses val="autoZero"/>
        <c:auto val="1"/>
        <c:lblAlgn val="ctr"/>
        <c:lblOffset val="100"/>
        <c:noMultiLvlLbl val="0"/>
      </c:catAx>
      <c:valAx>
        <c:axId val="-2113994440"/>
        <c:scaling>
          <c:max val="800.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633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10 s. "We are [team]. Upcycle Compass takes one food by-product batch and one protein target, and answers Go, No-go or Test-first, with the evidence behind it and the test to run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25 s. "Indian plant-protein brands import roughly nine-tenths of their protein ingredients, mostly pea isolate, exposed to the exchange rate and to anti-dumping action in the EU and Canada. Oilseed cake, the solid left after pressing oil, is sold as feed. In one Indian survey fewer than half of 118 groundnut-cake samples met 20 ppb aflatoxin. The problem is not a lack of protein; nobody can quickly tell a mill owner whether this batch is safe, what it would cost, and what to test first." Do not quote '&gt;25 Mt oilseed cake' unless checked on FAOSTAT.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25 s. "Upcycle Compass takes one by-product batch and one protein target (Protein Rich Flour, Concentrate or Isolate) and says Go, No-go or Test-first. Safety, technical fit, cost and evidence quality are shown separately, so a good price can never hide a safety gap. We answer Problem Statement 2: higher-value food use for Indian by-products. Our users are mills, plant-protein brands and the labs and incubators that fund pilots. In six months we want safety assays on real lots, bench and sensory trials, then a pilot run."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25 s. "Under the hood is a Python engine, not a chatbot. It applies safety gates first, then looks at which treatment routes the evidence supports for this material, then computes protein mass balance and cost per kg of protein. Every number carries a tag (measured, published, assumed or synthetic) with its source. The language model on Amazon Bedrock only turns your description into a form and writes a plain summary; a verifier rejects any sentence with a number the engine didn't produce, and a fixed template is the fallback."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90 s live (the template suggests 35 s; we use the spare time from the 4 minutes). Driver follows docs/pitch/DEMO_SCRIPT.md. "Here is a real use: sunflower cake, to make a protein-rich flour. The answer is Test-first, and the screen says why: aflatoxin, metals, hexane, food-grade records and regulatory review are unmeasured. It doesn't draw a bar for a number it doesn't have. Imported pea isolate lands at about 518 rupees per kg of protein in our scenario; we don't claim to beat it until yields and quotes are measured. Now the lab sends one result: lead at 1.6 mg/kg. The verdict flips to No-go, before and after side by side. Measure, update, decide." If the live demo fails, play the video.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20 s. "Every value is tagged. Our published values come from the team's oilseed review, the pea isolate paper and cited price sources; contaminant limits and scenarios are assumptions we show openly. The organiser datasets are listed but no value has been drawn from them yet. The ledger lists 161 missing values, which is why most answers today are Test-first. Uncalibrated probabilities are withheld rather than shown."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20 s. "Today the bar to beat is imported pea isolate at about 518 rupees per kg of protein, rising to around 650 if the pea price goes up 25%. We aim to replace part of that import, starting with flour and concentrate uses, and to make testing cheaper by putting safety assays first so failing lots are diverted early. It causes no new harm: only measured values clear safety gates, and failed lots stay in the feed chain. We claim no saving until the pilot measures yield and cost."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15 s. "We know where the tool stops: it cannot yet predict yield or our own cost, give calibrated probabilities, or approve safety. If it is wrong, the safety gates still need measured values, and the AI cannot change a number. Our first experiment: three to five food-grade sunflower-cake lots, assayed for aflatoxins, metals and hexane, with measured yield, then we check the engine's ranges against the results." Close: "We need a food-grade mill, an accredited lab and a brand to test samples. Thank you."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Not presented; the jury checks it. Labels: P published, A assumed, M measured, S synthetic. Click every link in the exported PDF before submitting.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on screen during questions. Q&amp;A answers: docs/pitch/QA.md. Export the deck as PDF and submit between 6:00 and 8:00 AM on 25 October.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Not presented; the jury checks it. Fill in the Bedrock model id from the demo laptop's .env. The repository is private: make it public or remove the link.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TF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5500" y="2349500"/>
            <a:ext cx="7302500" cy="1270000"/>
          </a:xfrm>
          <a:prstGeom prst="rect">
            <a:avLst/>
          </a:prstGeom>
          <a:noFill/>
          <a:ln/>
        </p:spPr>
        <p:txBody>
          <a:bodyPr wrap="square" rtlCol="0"/>
          <a:lstStyle>
            <a:lvl1pPr marL="0" indent="0" algn="l">
              <a:buNone/>
              <a:defRPr lang="en-US" sz="6600" b="1" dirty="0">
                <a:solidFill>
                  <a:schemeClr val="bg1"/>
                </a:solidFill>
                <a:latin typeface="Arial" pitchFamily="34" charset="0"/>
                <a:ea typeface="Arial" pitchFamily="34" charset="-122"/>
                <a:cs typeface="Arial" pitchFamily="34" charset="-120"/>
              </a:defRPr>
            </a:lvl1pPr>
          </a:lstStyle>
          <a:p>
            <a:pPr marL="0" indent="0" algn="l">
              <a:buNone/>
            </a:pPr>
            <a:r>
              <a:rPr lang="en-US" sz="6600" b="1" dirty="0">
                <a:solidFill>
                  <a:schemeClr val="bg1"/>
                </a:solidFill>
                <a:latin typeface="Arial" pitchFamily="34" charset="0"/>
                <a:ea typeface="Arial" pitchFamily="34" charset="-122"/>
                <a:cs typeface="Arial" pitchFamily="34" charset="-120"/>
              </a:rPr>
              <a:t>Project Name</a:t>
            </a:r>
            <a:endParaRPr lang="en-US" sz="6600" dirty="0"/>
          </a:p>
        </p:txBody>
      </p:sp>
      <p:sp>
        <p:nvSpPr>
          <p:cNvPr id="3" name="Text 0"/>
          <p:cNvSpPr>
            <a:spLocks noGrp="1"/>
          </p:cNvSpPr>
          <p:nvPr>
            <p:ph type="body" idx="101" hasCustomPrompt="1"/>
          </p:nvPr>
        </p:nvSpPr>
        <p:spPr>
          <a:xfrm>
            <a:off x="863600" y="3619500"/>
            <a:ext cx="7302500" cy="381000"/>
          </a:xfrm>
          <a:prstGeom prst="rect">
            <a:avLst/>
          </a:prstGeom>
          <a:noFill/>
          <a:ln/>
        </p:spPr>
        <p:txBody>
          <a:bodyPr wrap="square" rtlCol="0"/>
          <a:lstStyle>
            <a:lvl1pPr marL="0" indent="0">
              <a:buNone/>
              <a:defRPr lang="en-US" sz="1900" dirty="0">
                <a:solidFill>
                  <a:schemeClr val="bg1"/>
                </a:solidFill>
                <a:latin typeface="Arial" pitchFamily="34" charset="0"/>
                <a:ea typeface="Arial" pitchFamily="34" charset="-122"/>
                <a:cs typeface="Arial" pitchFamily="34" charset="-120"/>
              </a:defRPr>
            </a:lvl1pPr>
          </a:lstStyle>
          <a:p>
            <a:pPr marL="0" indent="0">
              <a:buNone/>
            </a:pPr>
            <a:r>
              <a:rPr lang="en-US" sz="1900" dirty="0">
                <a:solidFill>
                  <a:schemeClr val="bg1"/>
                </a:solidFill>
                <a:latin typeface="Arial" pitchFamily="34" charset="0"/>
                <a:ea typeface="Arial" pitchFamily="34" charset="-122"/>
                <a:cs typeface="Arial" pitchFamily="34" charset="-120"/>
              </a:rPr>
              <a:t>One line on what your solution does</a:t>
            </a: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TF Content">
    <p:bg>
      <p:bgPr>
        <a:solidFill>
          <a:srgbClr val="FFFFFF"/>
        </a:solidFill>
        <a:effectLst/>
      </p:bgPr>
    </p:bg>
    <p:spTree>
      <p:nvGrpSpPr>
        <p:cNvPr id="1" name=""/>
        <p:cNvGrpSpPr/>
        <p:nvPr/>
      </p:nvGrpSpPr>
      <p:grpSpPr>
        <a:xfrm>
          <a:off x="0" y="0"/>
          <a:ext cx="0" cy="0"/>
          <a:chOff x="0" y="0"/>
          <a:chExt cx="0" cy="0"/>
        </a:xfrm>
      </p:grpSpPr>
      <p:pic>
        <p:nvPicPr>
          <p:cNvPr id="2" name="Image 0" descr="Header band with the Smart Protein Project NIFTEM-K logo and hackthefork.in"/>
          <p:cNvPicPr>
            <a:picLocks noChangeAspect="1"/>
          </p:cNvPicPr>
          <p:nvPr/>
        </p:nvPicPr>
        <p:blipFill>
          <a:blip r:embed="rId2"/>
          <a:stretch>
            <a:fillRect/>
          </a:stretch>
        </p:blipFill>
        <p:spPr>
          <a:xfrm>
            <a:off x="0" y="0"/>
            <a:ext cx="12191695" cy="850879"/>
          </a:xfrm>
          <a:prstGeom prst="rect">
            <a:avLst/>
          </a:prstGeom>
        </p:spPr>
      </p:pic>
      <p:sp>
        <p:nvSpPr>
          <p:cNvPr id="3" name="Text 0"/>
          <p:cNvSpPr>
            <a:spLocks noGrp="1"/>
          </p:cNvSpPr>
          <p:nvPr>
            <p:ph type="title" idx="101" hasCustomPrompt="1"/>
          </p:nvPr>
        </p:nvSpPr>
        <p:spPr>
          <a:xfrm>
            <a:off x="571500" y="1016000"/>
            <a:ext cx="9525000" cy="825500"/>
          </a:xfrm>
          <a:prstGeom prst="rect">
            <a:avLst/>
          </a:prstGeom>
          <a:noFill/>
          <a:ln/>
        </p:spPr>
        <p:txBody>
          <a:bodyPr wrap="square" rtlCol="0"/>
          <a:lstStyle>
            <a:lvl1pPr marL="0" indent="0" algn="l">
              <a:buNone/>
              <a:defRPr lang="en-US" sz="4200" b="1" dirty="0">
                <a:solidFill>
                  <a:schemeClr val="tx2"/>
                </a:solidFill>
                <a:latin typeface="Arial" pitchFamily="34" charset="0"/>
                <a:ea typeface="Arial" pitchFamily="34" charset="-122"/>
                <a:cs typeface="Arial" pitchFamily="34" charset="-120"/>
              </a:defRPr>
            </a:lvl1pPr>
          </a:lstStyle>
          <a:p>
            <a:pPr marL="0" indent="0" algn="l">
              <a:buNone/>
            </a:pPr>
            <a:r>
              <a:rPr lang="en-US" sz="4200" b="1" dirty="0">
                <a:solidFill>
                  <a:schemeClr val="tx2"/>
                </a:solidFill>
                <a:latin typeface="Arial" pitchFamily="34" charset="0"/>
                <a:ea typeface="Arial" pitchFamily="34" charset="-122"/>
                <a:cs typeface="Arial" pitchFamily="34" charset="-120"/>
              </a:rPr>
              <a:t>Slide Title</a:t>
            </a:r>
            <a:endParaRPr lang="en-US" sz="4200" dirty="0"/>
          </a:p>
        </p:txBody>
      </p:sp>
      <p:sp>
        <p:nvSpPr>
          <p:cNvPr id="4" name="Text 0"/>
          <p:cNvSpPr>
            <a:spLocks noGrp="1"/>
          </p:cNvSpPr>
          <p:nvPr>
            <p:ph type="body" idx="102" hasCustomPrompt="1"/>
          </p:nvPr>
        </p:nvSpPr>
        <p:spPr>
          <a:xfrm>
            <a:off x="584200" y="2413000"/>
            <a:ext cx="10795000" cy="3683000"/>
          </a:xfrm>
          <a:prstGeom prst="rect">
            <a:avLst/>
          </a:prstGeom>
          <a:noFill/>
          <a:ln/>
        </p:spPr>
        <p:txBody>
          <a:bodyPr wrap="square" rtlCol="0"/>
          <a:lstStyle>
            <a:lvl1pPr marL="0" indent="0">
              <a:buNone/>
              <a:defRPr lang="en-US" sz="1900" dirty="0">
                <a:solidFill>
                  <a:schemeClr val="tx1"/>
                </a:solidFill>
                <a:latin typeface="Arial" pitchFamily="34" charset="0"/>
                <a:ea typeface="Arial" pitchFamily="34" charset="-122"/>
                <a:cs typeface="Arial" pitchFamily="34" charset="-120"/>
              </a:defRPr>
            </a:lvl1pPr>
          </a:lstStyle>
          <a:p>
            <a:pPr marL="0" indent="0">
              <a:buNone/>
            </a:pPr>
            <a:r>
              <a:rPr lang="en-US" sz="1900" dirty="0">
                <a:solidFill>
                  <a:schemeClr val="tx1"/>
                </a:solidFill>
                <a:latin typeface="Arial" pitchFamily="34" charset="0"/>
                <a:ea typeface="Arial" pitchFamily="34" charset="-122"/>
                <a:cs typeface="Arial" pitchFamily="34" charset="-120"/>
              </a:rPr>
              <a:t>Your content</a:t>
            </a:r>
            <a:endParaRPr lang="en-US" sz="1900" dirty="0"/>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1B1464"/>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TF 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5500" y="2857500"/>
            <a:ext cx="7302500" cy="1651000"/>
          </a:xfrm>
          <a:prstGeom prst="rect">
            <a:avLst/>
          </a:prstGeom>
          <a:noFill/>
          <a:ln/>
        </p:spPr>
        <p:txBody>
          <a:bodyPr wrap="square" rtlCol="0"/>
          <a:lstStyle>
            <a:lvl1pPr marL="0" indent="0" algn="l">
              <a:buNone/>
              <a:defRPr lang="en-US" sz="8000" b="1" dirty="0">
                <a:solidFill>
                  <a:schemeClr val="bg1"/>
                </a:solidFill>
                <a:latin typeface="Arial" pitchFamily="34" charset="0"/>
                <a:ea typeface="Arial" pitchFamily="34" charset="-122"/>
                <a:cs typeface="Arial" pitchFamily="34" charset="-120"/>
              </a:defRPr>
            </a:lvl1pPr>
          </a:lstStyle>
          <a:p>
            <a:pPr marL="0" indent="0" algn="l">
              <a:buNone/>
            </a:pPr>
            <a:r>
              <a:rPr lang="en-US" sz="8000" b="1" dirty="0">
                <a:solidFill>
                  <a:schemeClr val="bg1"/>
                </a:solidFill>
                <a:latin typeface="Arial" pitchFamily="34" charset="0"/>
                <a:ea typeface="Arial" pitchFamily="34" charset="-122"/>
                <a:cs typeface="Arial" pitchFamily="34" charset="-120"/>
              </a:rPr>
              <a:t>Thank You</a:t>
            </a:r>
            <a:endParaRPr lang="en-US" sz="8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1B1464"/>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doi.org/10.1016/j.fochx.2025.102898" TargetMode="External"/><Relationship Id="rId4" Type="http://schemas.openxmlformats.org/officeDocument/2006/relationships/hyperlink" Target="https://agris.fao.org/search/fr/records/6851787853e52c13fc76fde0" TargetMode="External"/><Relationship Id="rId5" Type="http://schemas.openxmlformats.org/officeDocument/2006/relationships/hyperlink" Target="https://www.frontiersin.org/journals/sustainable-food-systems/articles/10.3389/fsufs.2022.856401" TargetMode="External"/><Relationship Id="rId6" Type="http://schemas.openxmlformats.org/officeDocument/2006/relationships/hyperlink" Target="https://www.nature.com/articles/209406a0" TargetMode="External"/><Relationship Id="rId7" Type="http://schemas.openxmlformats.org/officeDocument/2006/relationships/hyperlink" Target="https://archive.org/download/biostor-278424/biostor-278424.pdf" TargetMode="External"/><Relationship Id="rId8" Type="http://schemas.openxmlformats.org/officeDocument/2006/relationships/hyperlink" Target="https://agronfoodprocessing.com/?p=31333" TargetMode="External"/><Relationship Id="rId9" Type="http://schemas.openxmlformats.org/officeDocument/2006/relationships/hyperlink" Target="https://vegconomist.com/agriculture-agribusiness/indias-orphan-crops-could-unlock-new-plant-protein-supply-chain-gfi-india-argues/" TargetMode="External"/><Relationship Id="rId10" Type="http://schemas.openxmlformats.org/officeDocument/2006/relationships/hyperlink" Target="https://dir.tridge.com/prices/grass-pea-protein/CN" TargetMode="External"/><Relationship Id="rId11" Type="http://schemas.openxmlformats.org/officeDocument/2006/relationships/hyperlink" Target="https://banklive.net/en/convert/usd-to-inr" TargetMode="External"/><Relationship Id="rId12" Type="http://schemas.openxmlformats.org/officeDocument/2006/relationships/hyperlink" Target="https://eximpe.com/hsncode-finder/35040099" TargetMode="External"/><Relationship Id="rId13" Type="http://schemas.openxmlformats.org/officeDocument/2006/relationships/hyperlink" Target="https://www.indiamart.com/proddetail/pea-protein-isolate-23662128530.html" TargetMode="External"/><Relationship Id="rId14" Type="http://schemas.openxmlformats.org/officeDocument/2006/relationships/hyperlink" Target="https://m.indiamart.com/mahalakshmi-oils" TargetMode="External"/><Relationship Id="rId15" Type="http://schemas.openxmlformats.org/officeDocument/2006/relationships/hyperlink" Target="https://www.wko.at/oe/aussenwirtschaft/information-at-provisional-stage-pre-disclosure-1.pdf" TargetMode="External"/><Relationship Id="rId16" Type="http://schemas.openxmlformats.org/officeDocument/2006/relationships/hyperlink" Target="https://www.cbsa-asfc.gc.ca/sima-lmsi/mif-mev/hpc-eng.html" TargetMode="External"/><Relationship Id="rId17" Type="http://schemas.openxmlformats.org/officeDocument/2006/relationships/hyperlink" Target="https://www.mintecglobal.com/hubfs/Expana%20Plant-Based%20Protein%20Report%20-%20March%202026.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ao.org/faostat/en/#home" TargetMode="External"/><Relationship Id="rId3" Type="http://schemas.openxmlformats.org/officeDocument/2006/relationships/hyperlink" Target="https://jsr.io/@nodef/ifct2017" TargetMode="External"/><Relationship Id="rId4" Type="http://schemas.openxmlformats.org/officeDocument/2006/relationships/hyperlink" Target="https://fdc.nal.usda.gov" TargetMode="External"/><Relationship Id="rId5" Type="http://schemas.openxmlformats.org/officeDocument/2006/relationships/hyperlink" Target="https://fdc.nal.usda.gov/download-datasets" TargetMode="External"/><Relationship Id="rId6" Type="http://schemas.openxmlformats.org/officeDocument/2006/relationships/hyperlink" Target="https://foodb.ca" TargetMode="External"/><Relationship Id="rId7" Type="http://schemas.openxmlformats.org/officeDocument/2006/relationships/hyperlink" Target="https://world.openfoodfacts.org" TargetMode="External"/><Relationship Id="rId8" Type="http://schemas.openxmlformats.org/officeDocument/2006/relationships/hyperlink" Target="https://agmarknet.gov.in/home" TargetMode="External"/><Relationship Id="rId9" Type="http://schemas.openxmlformats.org/officeDocument/2006/relationships/hyperlink" Target="https://www.data.gov.in/resource/current-daily-price-various-commodities-various-markets-mandi" TargetMode="External"/><Relationship Id="rId10" Type="http://schemas.openxmlformats.org/officeDocument/2006/relationships/hyperlink" Target="https://www.data.gov.in/resource/variety-wise-daily-market-prices-data-commodity" TargetMode="External"/><Relationship Id="rId11" Type="http://schemas.openxmlformats.org/officeDocument/2006/relationships/hyperlink" Target="https://github.com/TusharAnand36/Project_Hack-" TargetMode="External"/><Relationship Id="rId12" Type="http://schemas.openxmlformats.org/officeDocument/2006/relationships/hyperlink" Target="https://aws.amazon.com/bedrock/" TargetMode="External"/><Relationship Id="rId13" Type="http://schemas.openxmlformats.org/officeDocument/2006/relationships/hyperlink" Target="https://groq.com" TargetMode="External"/><Relationship Id="rId14" Type="http://schemas.openxmlformats.org/officeDocument/2006/relationships/hyperlink" Target="https://claude.com/claude-code" TargetMode="External"/><Relationship Id="rId15" Type="http://schemas.openxmlformats.org/officeDocument/2006/relationships/hyperlink" Target="https://developer.mozilla.org/en-US/docs/Web/API/Web_Speech_API" TargetMode="External"/><Relationship Id="rId16" Type="http://schemas.openxmlformats.org/officeDocument/2006/relationships/hyperlink" Target="https://fastapi.tiangolo.com" TargetMode="External"/><Relationship Id="rId17" Type="http://schemas.openxmlformats.org/officeDocument/2006/relationships/hyperlink" Target="https://scipy.org" TargetMode="External"/><Relationship Id="rId18" Type="http://schemas.openxmlformats.org/officeDocument/2006/relationships/hyperlink" Target="https://github.com/boto/boto3" TargetMode="External"/><Relationship Id="rId19" Type="http://schemas.openxmlformats.org/officeDocument/2006/relationships/hyperlink" Target="https://react.dev" TargetMode="External"/><Relationship Id="rId20" Type="http://schemas.openxmlformats.org/officeDocument/2006/relationships/hyperlink" Target="https://tailwindcss.com" TargetMode="External"/><Relationship Id="rId21" Type="http://schemas.openxmlformats.org/officeDocument/2006/relationships/hyperlink" Target="https://tanstack.com/query" TargetMode="External"/><Relationship Id="rId22" Type="http://schemas.openxmlformats.org/officeDocument/2006/relationships/hyperlink" Target="https://www.radix-ui.com" TargetMode="External"/><Relationship Id="rId23" Type="http://schemas.openxmlformats.org/officeDocument/2006/relationships/hyperlink" Target="https://playwright.dev" TargetMode="External"/><Relationship Id="rId24"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5500" y="2349500"/>
            <a:ext cx="7302500" cy="1270000"/>
          </a:xfrm>
          <a:prstGeom prst="rect">
            <a:avLst/>
          </a:prstGeom>
          <a:noFill/>
          <a:ln/>
        </p:spPr>
        <p:txBody>
          <a:bodyPr wrap="square" lIns="0" tIns="0" rIns="0" bIns="0" rtlCol="0" anchor="ctr"/>
          <a:lstStyle/>
          <a:p>
            <a:pPr marL="0" indent="0" algn="l">
              <a:buNone/>
            </a:pPr>
            <a:r>
              <a:rPr lang="en-US" sz="6600" b="1" dirty="0">
                <a:solidFill>
                  <a:schemeClr val="bg1"/>
                </a:solidFill>
                <a:latin typeface="Arial" pitchFamily="34" charset="0"/>
                <a:ea typeface="Arial" pitchFamily="34" charset="-122"/>
                <a:cs typeface="Arial" pitchFamily="34" charset="-120"/>
              </a:rPr>
              <a:t>Upcycle Compass</a:t>
            </a:r>
            <a:endParaRPr lang="en-US" sz="6600" dirty="0"/>
          </a:p>
        </p:txBody>
      </p:sp>
      <p:sp>
        <p:nvSpPr>
          <p:cNvPr id="3" name="Text 0"/>
          <p:cNvSpPr>
            <a:spLocks noGrp="1"/>
          </p:cNvSpPr>
          <p:nvPr>
            <p:ph type="body" idx="101" hasCustomPrompt="1"/>
          </p:nvPr>
        </p:nvSpPr>
        <p:spPr>
          <a:xfrm>
            <a:off x="863600" y="3619500"/>
            <a:ext cx="7302500" cy="381000"/>
          </a:xfrm>
          <a:prstGeom prst="rect">
            <a:avLst/>
          </a:prstGeom>
          <a:noFill/>
          <a:ln/>
        </p:spPr>
        <p:txBody>
          <a:bodyPr wrap="square" lIns="0" tIns="0" rIns="0" bIns="0" rtlCol="0" anchor="t"/>
          <a:lstStyle/>
          <a:p>
            <a:pPr marL="0" indent="0">
              <a:buNone/>
            </a:pPr>
            <a:r>
              <a:rPr lang="en-US" sz="1900" dirty="0">
                <a:solidFill>
                  <a:schemeClr val="bg1"/>
                </a:solidFill>
                <a:latin typeface="Arial" pitchFamily="34" charset="0"/>
                <a:ea typeface="Arial" pitchFamily="34" charset="-122"/>
                <a:cs typeface="Arial" pitchFamily="34" charset="-120"/>
              </a:rPr>
              <a:t>One by-product batch, one protein target: Go, No-go or Test-first, and what to test next</a:t>
            </a:r>
            <a:endParaRPr lang="en-US" sz="1900" dirty="0"/>
          </a:p>
        </p:txBody>
      </p:sp>
      <p:sp>
        <p:nvSpPr>
          <p:cNvPr id="4" name="Title team"/>
          <p:cNvSpPr txBox="1"/>
          <p:nvPr/>
        </p:nvSpPr>
        <p:spPr>
          <a:xfrm>
            <a:off x="863600" y="4667250"/>
            <a:ext cx="8321040" cy="304800"/>
          </a:xfrm>
          <a:prstGeom prst="rect">
            <a:avLst/>
          </a:prstGeom>
          <a:noFill/>
          <a:ln/>
        </p:spPr>
        <p:txBody>
          <a:bodyPr wrap="square" lIns="0" tIns="0" rIns="0" bIns="0" rtlCol="0" anchor="ctr"/>
          <a:lstStyle/>
          <a:p>
            <a:pPr marL="0" indent="0">
              <a:buNone/>
            </a:pPr>
            <a:r>
              <a:rPr lang="en-US" sz="1600" b="1" dirty="0">
                <a:solidFill>
                  <a:schemeClr val="bg1"/>
                </a:solidFill>
                <a:latin typeface="Arial" pitchFamily="34" charset="0"/>
                <a:ea typeface="Arial" pitchFamily="34" charset="-122"/>
                <a:cs typeface="Arial" pitchFamily="34" charset="-120"/>
              </a:rPr>
              <a:t>TEAM   </a:t>
            </a:r>
            <a:r>
              <a:rPr lang="en-US" sz="1600" dirty="0">
                <a:solidFill>
                  <a:schemeClr val="bg1"/>
                </a:solidFill>
                <a:latin typeface="Arial" pitchFamily="34" charset="0"/>
                <a:ea typeface="Arial" pitchFamily="34" charset="-122"/>
                <a:cs typeface="Arial" pitchFamily="34" charset="-120"/>
              </a:rPr>
              <a:t>[Team name]</a:t>
            </a:r>
            <a:endParaRPr lang="en-US" sz="1600" dirty="0"/>
          </a:p>
        </p:txBody>
      </p:sp>
      <p:sp>
        <p:nvSpPr>
          <p:cNvPr id="5" name="Title problem statement"/>
          <p:cNvSpPr txBox="1"/>
          <p:nvPr/>
        </p:nvSpPr>
        <p:spPr>
          <a:xfrm>
            <a:off x="863600" y="4984750"/>
            <a:ext cx="8321040" cy="304800"/>
          </a:xfrm>
          <a:prstGeom prst="rect">
            <a:avLst/>
          </a:prstGeom>
          <a:noFill/>
          <a:ln/>
        </p:spPr>
        <p:txBody>
          <a:bodyPr wrap="square" lIns="0" tIns="0" rIns="0" bIns="0" rtlCol="0" anchor="ctr"/>
          <a:lstStyle/>
          <a:p>
            <a:pPr marL="0" indent="0">
              <a:buNone/>
            </a:pPr>
            <a:r>
              <a:rPr lang="en-US" sz="1600" b="1" dirty="0">
                <a:solidFill>
                  <a:schemeClr val="bg1"/>
                </a:solidFill>
                <a:latin typeface="Arial" pitchFamily="34" charset="0"/>
                <a:ea typeface="Arial" pitchFamily="34" charset="-122"/>
                <a:cs typeface="Arial" pitchFamily="34" charset="-120"/>
              </a:rPr>
              <a:t>PROBLEM STATEMENT   </a:t>
            </a:r>
            <a:r>
              <a:rPr lang="en-US" sz="1600" dirty="0">
                <a:solidFill>
                  <a:schemeClr val="bg1"/>
                </a:solidFill>
                <a:latin typeface="Arial" pitchFamily="34" charset="0"/>
                <a:ea typeface="Arial" pitchFamily="34" charset="-122"/>
                <a:cs typeface="Arial" pitchFamily="34" charset="-120"/>
              </a:rPr>
              <a:t>02 · Upcycling India's By-products for Alternative Proteins</a:t>
            </a:r>
            <a:endParaRPr lang="en-US" sz="1600" dirty="0"/>
          </a:p>
        </p:txBody>
      </p:sp>
      <p:sp>
        <p:nvSpPr>
          <p:cNvPr id="6" name="Title members"/>
          <p:cNvSpPr txBox="1"/>
          <p:nvPr/>
        </p:nvSpPr>
        <p:spPr>
          <a:xfrm>
            <a:off x="863600" y="5302250"/>
            <a:ext cx="8321040" cy="304800"/>
          </a:xfrm>
          <a:prstGeom prst="rect">
            <a:avLst/>
          </a:prstGeom>
          <a:noFill/>
          <a:ln/>
        </p:spPr>
        <p:txBody>
          <a:bodyPr wrap="square" lIns="0" tIns="0" rIns="0" bIns="0" rtlCol="0" anchor="ctr"/>
          <a:lstStyle/>
          <a:p>
            <a:pPr marL="0" indent="0">
              <a:buNone/>
            </a:pPr>
            <a:r>
              <a:rPr lang="en-US" sz="1600" b="1" dirty="0">
                <a:solidFill>
                  <a:schemeClr val="bg1"/>
                </a:solidFill>
                <a:latin typeface="Arial" pitchFamily="34" charset="0"/>
                <a:ea typeface="Arial" pitchFamily="34" charset="-122"/>
                <a:cs typeface="Arial" pitchFamily="34" charset="-120"/>
              </a:rPr>
              <a:t>MEMBERS   </a:t>
            </a:r>
            <a:r>
              <a:rPr lang="en-US" sz="1600" dirty="0">
                <a:solidFill>
                  <a:schemeClr val="bg1"/>
                </a:solidFill>
                <a:latin typeface="Arial" pitchFamily="34" charset="0"/>
                <a:ea typeface="Arial" pitchFamily="34" charset="-122"/>
                <a:cs typeface="Arial" pitchFamily="34" charset="-120"/>
              </a:rPr>
              <a:t>[Member names]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71500" y="1016000"/>
            <a:ext cx="9525000" cy="825500"/>
          </a:xfrm>
          <a:prstGeom prst="rect">
            <a:avLst/>
          </a:prstGeom>
          <a:noFill/>
          <a:ln/>
        </p:spPr>
        <p:txBody>
          <a:bodyPr wrap="square" lIns="0" tIns="0" rIns="0" bIns="0" rtlCol="0" anchor="ctr"/>
          <a:lstStyle/>
          <a:p>
            <a:pPr marL="0" indent="0" algn="l">
              <a:buNone/>
            </a:pPr>
            <a:r>
              <a:rPr lang="en-US" sz="4200" b="1" dirty="0">
                <a:solidFill>
                  <a:schemeClr val="tx2"/>
                </a:solidFill>
                <a:latin typeface="Arial" pitchFamily="34" charset="0"/>
                <a:ea typeface="Arial" pitchFamily="34" charset="-122"/>
                <a:cs typeface="Arial" pitchFamily="34" charset="-120"/>
              </a:rPr>
              <a:t>The Problem</a:t>
            </a:r>
            <a:endParaRPr lang="en-US" sz="4200" dirty="0"/>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1B1464"/>
                </a:solidFill>
                <a:latin typeface="Arial"/>
                <a:ea typeface="Arial"/>
                <a:cs typeface="Arial"/>
              </a:defRPr>
            </a:lvl1pPr>
          </a:lstStyle>
          <a:p>
            <a:pPr algn="r"/>
            <a:fld id="{F7021451-1387-4CA6-816F-3879F97B5CBC}" type="slidenum">
              <a:rPr lang="en-US" b="0"/>
              <a:t>2</a:t>
            </a:fld>
            <a:endParaRPr lang="en-US"/>
          </a:p>
        </p:txBody>
      </p:sp>
      <p:sp>
        <p:nvSpPr>
          <p:cNvPr id="26" name="Text 1"/>
          <p:cNvSpPr txBox="1"/>
          <p:nvPr/>
        </p:nvSpPr>
        <p:spPr>
          <a:xfrm>
            <a:off x="571500" y="1874519"/>
            <a:ext cx="10817352" cy="640080"/>
          </a:xfrm>
          <a:prstGeom prst="rect">
            <a:avLst/>
          </a:prstGeom>
          <a:noFill/>
        </p:spPr>
        <p:txBody>
          <a:bodyPr wrap="square" anchor="t" lIns="0" rIns="0" tIns="0" bIns="0">
            <a:spAutoFit/>
          </a:bodyPr>
          <a:lstStyle/>
          <a:p>
            <a:pPr algn="l" marL="0" indent="0">
              <a:spcAft>
                <a:spcPts val="600"/>
              </a:spcAft>
              <a:buNone/>
            </a:pPr>
            <a:r>
              <a:rPr sz="1600" b="0" i="0">
                <a:solidFill>
                  <a:schemeClr val="tx2"/>
                </a:solidFill>
                <a:latin typeface="Arial"/>
              </a:rPr>
              <a:t>A mill owner or plant-protein R&amp;D head cannot quickly tell whether </a:t>
            </a:r>
            <a:r>
              <a:rPr sz="1600" b="1" i="0">
                <a:solidFill>
                  <a:schemeClr val="tx2"/>
                </a:solidFill>
                <a:latin typeface="Arial"/>
              </a:rPr>
              <a:t>one oilseed-cake batch</a:t>
            </a:r>
            <a:r>
              <a:rPr sz="1600" b="0" i="0">
                <a:solidFill>
                  <a:schemeClr val="tx2"/>
                </a:solidFill>
                <a:latin typeface="Arial"/>
              </a:rPr>
              <a:t> is safe for food, what processing it needs, what a kg of its protein would cost against imported pea isolate, and what to test first.</a:t>
            </a:r>
          </a:p>
        </p:txBody>
      </p:sp>
      <p:sp>
        <p:nvSpPr>
          <p:cNvPr id="27" name="Card 2"/>
          <p:cNvSpPr/>
          <p:nvPr/>
        </p:nvSpPr>
        <p:spPr>
          <a:xfrm>
            <a:off x="571500" y="2651760"/>
            <a:ext cx="3429000" cy="160020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3"/>
          <p:cNvSpPr txBox="1"/>
          <p:nvPr/>
        </p:nvSpPr>
        <p:spPr>
          <a:xfrm>
            <a:off x="772668" y="2724912"/>
            <a:ext cx="3026664" cy="566928"/>
          </a:xfrm>
          <a:prstGeom prst="rect">
            <a:avLst/>
          </a:prstGeom>
          <a:noFill/>
        </p:spPr>
        <p:txBody>
          <a:bodyPr wrap="square" anchor="ctr" lIns="0" rIns="0" tIns="0" bIns="0">
            <a:spAutoFit/>
          </a:bodyPr>
          <a:lstStyle/>
          <a:p>
            <a:pPr algn="l" marL="0" indent="0">
              <a:spcAft>
                <a:spcPts val="0"/>
              </a:spcAft>
              <a:buNone/>
            </a:pPr>
            <a:r>
              <a:rPr sz="3400" b="1" i="0">
                <a:solidFill>
                  <a:schemeClr val="accent1"/>
                </a:solidFill>
                <a:latin typeface="Arial"/>
              </a:rPr>
              <a:t>~90%</a:t>
            </a:r>
          </a:p>
        </p:txBody>
      </p:sp>
      <p:sp>
        <p:nvSpPr>
          <p:cNvPr id="29" name="Text 4"/>
          <p:cNvSpPr txBox="1"/>
          <p:nvPr/>
        </p:nvSpPr>
        <p:spPr>
          <a:xfrm>
            <a:off x="772668" y="3310128"/>
            <a:ext cx="3026664" cy="566928"/>
          </a:xfrm>
          <a:prstGeom prst="rect">
            <a:avLst/>
          </a:prstGeom>
          <a:noFill/>
        </p:spPr>
        <p:txBody>
          <a:bodyPr wrap="square" anchor="t" lIns="0" rIns="0" tIns="0" bIns="0">
            <a:spAutoFit/>
          </a:bodyPr>
          <a:lstStyle/>
          <a:p>
            <a:pPr algn="l" marL="0" indent="0">
              <a:spcAft>
                <a:spcPts val="600"/>
              </a:spcAft>
              <a:buNone/>
            </a:pPr>
            <a:r>
              <a:rPr sz="1300" b="0" i="0">
                <a:solidFill>
                  <a:schemeClr val="tx2"/>
                </a:solidFill>
                <a:latin typeface="Arial"/>
              </a:rPr>
              <a:t>of plant-protein ingredients used in India are imported</a:t>
            </a:r>
          </a:p>
        </p:txBody>
      </p:sp>
      <p:sp>
        <p:nvSpPr>
          <p:cNvPr id="30" name="Text 5"/>
          <p:cNvSpPr txBox="1"/>
          <p:nvPr/>
        </p:nvSpPr>
        <p:spPr>
          <a:xfrm>
            <a:off x="772668" y="3931920"/>
            <a:ext cx="3026664" cy="256032"/>
          </a:xfrm>
          <a:prstGeom prst="rect">
            <a:avLst/>
          </a:prstGeom>
          <a:noFill/>
        </p:spPr>
        <p:txBody>
          <a:bodyPr wrap="square" anchor="t" lIns="0" rIns="0" tIns="0" bIns="0">
            <a:spAutoFit/>
          </a:bodyPr>
          <a:lstStyle/>
          <a:p>
            <a:pPr algn="l" marL="0" indent="0">
              <a:spcAft>
                <a:spcPts val="600"/>
              </a:spcAft>
              <a:buNone/>
            </a:pPr>
            <a:r>
              <a:rPr sz="1000" b="0" i="1">
                <a:solidFill>
                  <a:schemeClr val="accent5"/>
                </a:solidFill>
                <a:latin typeface="Arial"/>
              </a:rPr>
              <a:t>PBFIA via Agron Food Processing · published</a:t>
            </a:r>
          </a:p>
        </p:txBody>
      </p:sp>
      <p:sp>
        <p:nvSpPr>
          <p:cNvPr id="31" name="Card 6"/>
          <p:cNvSpPr/>
          <p:nvPr/>
        </p:nvSpPr>
        <p:spPr>
          <a:xfrm>
            <a:off x="4265676" y="2651760"/>
            <a:ext cx="3429000" cy="160020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7"/>
          <p:cNvSpPr txBox="1"/>
          <p:nvPr/>
        </p:nvSpPr>
        <p:spPr>
          <a:xfrm>
            <a:off x="4466844" y="2724912"/>
            <a:ext cx="3026664" cy="566928"/>
          </a:xfrm>
          <a:prstGeom prst="rect">
            <a:avLst/>
          </a:prstGeom>
          <a:noFill/>
        </p:spPr>
        <p:txBody>
          <a:bodyPr wrap="square" anchor="ctr" lIns="0" rIns="0" tIns="0" bIns="0">
            <a:spAutoFit/>
          </a:bodyPr>
          <a:lstStyle/>
          <a:p>
            <a:pPr algn="l" marL="0" indent="0">
              <a:spcAft>
                <a:spcPts val="0"/>
              </a:spcAft>
              <a:buNone/>
            </a:pPr>
            <a:r>
              <a:rPr sz="3400" b="1" i="0">
                <a:solidFill>
                  <a:schemeClr val="accent1"/>
                </a:solidFill>
                <a:latin typeface="Arial"/>
              </a:rPr>
              <a:t>47%</a:t>
            </a:r>
          </a:p>
        </p:txBody>
      </p:sp>
      <p:sp>
        <p:nvSpPr>
          <p:cNvPr id="33" name="Text 8"/>
          <p:cNvSpPr txBox="1"/>
          <p:nvPr/>
        </p:nvSpPr>
        <p:spPr>
          <a:xfrm>
            <a:off x="4466844" y="3310128"/>
            <a:ext cx="3026664" cy="566928"/>
          </a:xfrm>
          <a:prstGeom prst="rect">
            <a:avLst/>
          </a:prstGeom>
          <a:noFill/>
        </p:spPr>
        <p:txBody>
          <a:bodyPr wrap="square" anchor="t" lIns="0" rIns="0" tIns="0" bIns="0">
            <a:spAutoFit/>
          </a:bodyPr>
          <a:lstStyle/>
          <a:p>
            <a:pPr algn="l" marL="0" indent="0">
              <a:spcAft>
                <a:spcPts val="600"/>
              </a:spcAft>
              <a:buNone/>
            </a:pPr>
            <a:r>
              <a:rPr sz="1300" b="0" i="0">
                <a:solidFill>
                  <a:schemeClr val="tx2"/>
                </a:solidFill>
                <a:latin typeface="Arial"/>
              </a:rPr>
              <a:t>of 118 Indian groundnut-cake samples met ≤ 20 ppb aflatoxin B1 (feed grade)</a:t>
            </a:r>
          </a:p>
        </p:txBody>
      </p:sp>
      <p:sp>
        <p:nvSpPr>
          <p:cNvPr id="34" name="Text 9"/>
          <p:cNvSpPr txBox="1"/>
          <p:nvPr/>
        </p:nvSpPr>
        <p:spPr>
          <a:xfrm>
            <a:off x="4466844" y="3931920"/>
            <a:ext cx="3026664" cy="256032"/>
          </a:xfrm>
          <a:prstGeom prst="rect">
            <a:avLst/>
          </a:prstGeom>
          <a:noFill/>
        </p:spPr>
        <p:txBody>
          <a:bodyPr wrap="square" anchor="t" lIns="0" rIns="0" tIns="0" bIns="0">
            <a:spAutoFit/>
          </a:bodyPr>
          <a:lstStyle/>
          <a:p>
            <a:pPr algn="l" marL="0" indent="0">
              <a:spcAft>
                <a:spcPts val="600"/>
              </a:spcAft>
              <a:buNone/>
            </a:pPr>
            <a:r>
              <a:rPr sz="1000" b="0" i="1">
                <a:solidFill>
                  <a:schemeClr val="accent5"/>
                </a:solidFill>
                <a:latin typeface="Arial"/>
              </a:rPr>
              <a:t>Murugeswari 2023 · published</a:t>
            </a:r>
          </a:p>
        </p:txBody>
      </p:sp>
      <p:sp>
        <p:nvSpPr>
          <p:cNvPr id="35" name="Card 10"/>
          <p:cNvSpPr/>
          <p:nvPr/>
        </p:nvSpPr>
        <p:spPr>
          <a:xfrm>
            <a:off x="7959852" y="2651760"/>
            <a:ext cx="3429000" cy="160020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 11"/>
          <p:cNvSpPr txBox="1"/>
          <p:nvPr/>
        </p:nvSpPr>
        <p:spPr>
          <a:xfrm>
            <a:off x="8161020" y="2724912"/>
            <a:ext cx="3026664" cy="566928"/>
          </a:xfrm>
          <a:prstGeom prst="rect">
            <a:avLst/>
          </a:prstGeom>
          <a:noFill/>
        </p:spPr>
        <p:txBody>
          <a:bodyPr wrap="square" anchor="ctr" lIns="0" rIns="0" tIns="0" bIns="0">
            <a:spAutoFit/>
          </a:bodyPr>
          <a:lstStyle/>
          <a:p>
            <a:pPr algn="l" marL="0" indent="0">
              <a:spcAft>
                <a:spcPts val="0"/>
              </a:spcAft>
              <a:buNone/>
            </a:pPr>
            <a:r>
              <a:rPr sz="3400" b="1" i="0">
                <a:solidFill>
                  <a:schemeClr val="accent1"/>
                </a:solidFill>
                <a:latin typeface="Arial"/>
              </a:rPr>
              <a:t>₹518</a:t>
            </a:r>
          </a:p>
        </p:txBody>
      </p:sp>
      <p:sp>
        <p:nvSpPr>
          <p:cNvPr id="37" name="Text 12"/>
          <p:cNvSpPr txBox="1"/>
          <p:nvPr/>
        </p:nvSpPr>
        <p:spPr>
          <a:xfrm>
            <a:off x="8161020" y="3310128"/>
            <a:ext cx="3026664" cy="566928"/>
          </a:xfrm>
          <a:prstGeom prst="rect">
            <a:avLst/>
          </a:prstGeom>
          <a:noFill/>
        </p:spPr>
        <p:txBody>
          <a:bodyPr wrap="square" anchor="t" lIns="0" rIns="0" tIns="0" bIns="0">
            <a:spAutoFit/>
          </a:bodyPr>
          <a:lstStyle/>
          <a:p>
            <a:pPr algn="l" marL="0" indent="0">
              <a:spcAft>
                <a:spcPts val="600"/>
              </a:spcAft>
              <a:buNone/>
            </a:pPr>
            <a:r>
              <a:rPr sz="1300" b="0" i="0">
                <a:solidFill>
                  <a:schemeClr val="tx2"/>
                </a:solidFill>
                <a:latin typeface="Arial"/>
              </a:rPr>
              <a:t>per kg protein: modelled landed cost of imported pea isolate (range ₹431 to ₹619)</a:t>
            </a:r>
          </a:p>
        </p:txBody>
      </p:sp>
      <p:sp>
        <p:nvSpPr>
          <p:cNvPr id="38" name="Text 13"/>
          <p:cNvSpPr txBox="1"/>
          <p:nvPr/>
        </p:nvSpPr>
        <p:spPr>
          <a:xfrm>
            <a:off x="8161020" y="3931920"/>
            <a:ext cx="3026664" cy="256032"/>
          </a:xfrm>
          <a:prstGeom prst="rect">
            <a:avLst/>
          </a:prstGeom>
          <a:noFill/>
        </p:spPr>
        <p:txBody>
          <a:bodyPr wrap="square" anchor="t" lIns="0" rIns="0" tIns="0" bIns="0">
            <a:spAutoFit/>
          </a:bodyPr>
          <a:lstStyle/>
          <a:p>
            <a:pPr algn="l" marL="0" indent="0">
              <a:spcAft>
                <a:spcPts val="600"/>
              </a:spcAft>
              <a:buNone/>
            </a:pPr>
            <a:r>
              <a:rPr sz="1000" b="0" i="1">
                <a:solidFill>
                  <a:schemeClr val="accent5"/>
                </a:solidFill>
                <a:latin typeface="Arial"/>
              </a:rPr>
              <a:t>Our pea scenario · assumed, grade D</a:t>
            </a:r>
          </a:p>
        </p:txBody>
      </p:sp>
      <p:sp>
        <p:nvSpPr>
          <p:cNvPr id="39" name="Text 14"/>
          <p:cNvSpPr txBox="1"/>
          <p:nvPr/>
        </p:nvSpPr>
        <p:spPr>
          <a:xfrm>
            <a:off x="571500" y="4480560"/>
            <a:ext cx="5257800" cy="1737360"/>
          </a:xfrm>
          <a:prstGeom prst="rect">
            <a:avLst/>
          </a:prstGeom>
          <a:noFill/>
        </p:spPr>
        <p:txBody>
          <a:bodyPr wrap="square" anchor="t" lIns="0" rIns="0" tIns="0" bIns="0">
            <a:spAutoFit/>
          </a:bodyPr>
          <a:lstStyle/>
          <a:p>
            <a:pPr algn="l" marL="0" indent="0">
              <a:spcAft>
                <a:spcPts val="800"/>
              </a:spcAft>
              <a:buNone/>
            </a:pPr>
            <a:r>
              <a:rPr sz="1600" b="1" i="0">
                <a:solidFill>
                  <a:schemeClr val="tx2"/>
                </a:solidFill>
                <a:latin typeface="Arial"/>
              </a:rPr>
              <a:t>Why it hasn't been solved</a:t>
            </a:r>
          </a:p>
          <a:p>
            <a:pPr algn="l" marL="168910" indent="-168910">
              <a:spcAft>
                <a:spcPts val="400"/>
              </a:spcAft>
              <a:buSzPct val="100000"/>
              <a:buChar char="•"/>
            </a:pPr>
            <a:r>
              <a:rPr sz="1400" b="0" i="0">
                <a:solidFill>
                  <a:schemeClr val="tx2"/>
                </a:solidFill>
                <a:latin typeface="Arial"/>
              </a:rPr>
              <a:t>AI food platforms chase novel molecules, not commodity by-products</a:t>
            </a:r>
          </a:p>
          <a:p>
            <a:pPr algn="l" marL="168910" indent="-168910">
              <a:spcAft>
                <a:spcPts val="400"/>
              </a:spcAft>
              <a:buSzPct val="100000"/>
              <a:buChar char="•"/>
            </a:pPr>
            <a:r>
              <a:rPr sz="1400" b="0" i="0">
                <a:solidFill>
                  <a:schemeClr val="tx2"/>
                </a:solidFill>
                <a:latin typeface="Arial"/>
              </a:rPr>
              <a:t>Safety, processing and cost are studied separately, often per kg product, not per kg protein</a:t>
            </a:r>
          </a:p>
          <a:p>
            <a:pPr algn="l" marL="168910" indent="-168910">
              <a:spcAft>
                <a:spcPts val="400"/>
              </a:spcAft>
              <a:buSzPct val="100000"/>
              <a:buChar char="•"/>
            </a:pPr>
            <a:r>
              <a:rPr sz="1400" b="0" i="0">
                <a:solidFill>
                  <a:schemeClr val="tx2"/>
                </a:solidFill>
                <a:latin typeface="Arial"/>
              </a:rPr>
              <a:t>Lot data is scarce: most numbers are literature ranges, not this batch</a:t>
            </a:r>
          </a:p>
        </p:txBody>
      </p:sp>
      <p:sp>
        <p:nvSpPr>
          <p:cNvPr id="40" name="Text 15"/>
          <p:cNvSpPr txBox="1"/>
          <p:nvPr/>
        </p:nvSpPr>
        <p:spPr>
          <a:xfrm>
            <a:off x="6131052" y="4480560"/>
            <a:ext cx="5257800" cy="1737360"/>
          </a:xfrm>
          <a:prstGeom prst="rect">
            <a:avLst/>
          </a:prstGeom>
          <a:noFill/>
        </p:spPr>
        <p:txBody>
          <a:bodyPr wrap="square" anchor="t" lIns="0" rIns="0" tIns="0" bIns="0">
            <a:spAutoFit/>
          </a:bodyPr>
          <a:lstStyle/>
          <a:p>
            <a:pPr algn="l" marL="0" indent="0">
              <a:spcAft>
                <a:spcPts val="800"/>
              </a:spcAft>
              <a:buNone/>
            </a:pPr>
            <a:r>
              <a:rPr sz="1600" b="1" i="0">
                <a:solidFill>
                  <a:schemeClr val="tx2"/>
                </a:solidFill>
                <a:latin typeface="Arial"/>
              </a:rPr>
              <a:t>Impact if solved</a:t>
            </a:r>
          </a:p>
          <a:p>
            <a:pPr algn="l" marL="168910" indent="-168910">
              <a:spcAft>
                <a:spcPts val="400"/>
              </a:spcAft>
              <a:buSzPct val="100000"/>
              <a:buChar char="•"/>
            </a:pPr>
            <a:r>
              <a:rPr sz="1400" b="0" i="0">
                <a:solidFill>
                  <a:schemeClr val="tx2"/>
                </a:solidFill>
                <a:latin typeface="Arial"/>
              </a:rPr>
              <a:t>Mills can offer cake to food buyers, not only as feed</a:t>
            </a:r>
          </a:p>
          <a:p>
            <a:pPr algn="l" marL="168910" indent="-168910">
              <a:spcAft>
                <a:spcPts val="400"/>
              </a:spcAft>
              <a:buSzPct val="100000"/>
              <a:buChar char="•"/>
            </a:pPr>
            <a:r>
              <a:rPr sz="1400" b="0" i="0">
                <a:solidFill>
                  <a:schemeClr val="tx2"/>
                </a:solidFill>
                <a:latin typeface="Arial"/>
              </a:rPr>
              <a:t>Brands get a local protein option priced per kg protein against pea</a:t>
            </a:r>
          </a:p>
          <a:p>
            <a:pPr algn="l" marL="168910" indent="-168910">
              <a:spcAft>
                <a:spcPts val="400"/>
              </a:spcAft>
              <a:buSzPct val="100000"/>
              <a:buChar char="•"/>
            </a:pPr>
            <a:r>
              <a:rPr sz="1400" b="0" i="0">
                <a:solidFill>
                  <a:schemeClr val="tx2"/>
                </a:solidFill>
                <a:latin typeface="Arial"/>
              </a:rPr>
              <a:t>Labs test in the right order: safety first, failing lots diverted early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71500" y="1016000"/>
            <a:ext cx="9525000" cy="825500"/>
          </a:xfrm>
          <a:prstGeom prst="rect">
            <a:avLst/>
          </a:prstGeom>
          <a:noFill/>
          <a:ln/>
        </p:spPr>
        <p:txBody>
          <a:bodyPr wrap="square" lIns="0" tIns="0" rIns="0" bIns="0" rtlCol="0" anchor="ctr"/>
          <a:lstStyle/>
          <a:p>
            <a:pPr marL="0" indent="0" algn="l">
              <a:buNone/>
            </a:pPr>
            <a:r>
              <a:rPr lang="en-US" sz="4200" b="1" dirty="0">
                <a:solidFill>
                  <a:schemeClr val="tx2"/>
                </a:solidFill>
                <a:latin typeface="Arial" pitchFamily="34" charset="0"/>
                <a:ea typeface="Arial" pitchFamily="34" charset="-122"/>
                <a:cs typeface="Arial" pitchFamily="34" charset="-120"/>
              </a:rPr>
              <a:t>Our Solution</a:t>
            </a:r>
            <a:endParaRPr lang="en-US" sz="4200" dirty="0"/>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1B1464"/>
                </a:solidFill>
                <a:latin typeface="Arial"/>
                <a:ea typeface="Arial"/>
                <a:cs typeface="Arial"/>
              </a:defRPr>
            </a:lvl1pPr>
          </a:lstStyle>
          <a:p>
            <a:pPr algn="r"/>
            <a:fld id="{F7021451-1387-4CA6-816F-3879F97B5CBC}" type="slidenum">
              <a:rPr lang="en-US" b="0"/>
              <a:t>3</a:t>
            </a:fld>
            <a:endParaRPr lang="en-US"/>
          </a:p>
        </p:txBody>
      </p:sp>
      <p:sp>
        <p:nvSpPr>
          <p:cNvPr id="26" name="Card 16"/>
          <p:cNvSpPr/>
          <p:nvPr/>
        </p:nvSpPr>
        <p:spPr>
          <a:xfrm>
            <a:off x="571500" y="1920240"/>
            <a:ext cx="5276088" cy="2029968"/>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Badge 17"/>
          <p:cNvSpPr/>
          <p:nvPr/>
        </p:nvSpPr>
        <p:spPr>
          <a:xfrm>
            <a:off x="800100" y="2121408"/>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Aft>
                <a:spcPts val="0"/>
              </a:spcAft>
              <a:buNone/>
            </a:pPr>
            <a:r>
              <a:rPr sz="1400" b="1" i="0">
                <a:solidFill>
                  <a:schemeClr val="bg1"/>
                </a:solidFill>
                <a:latin typeface="Arial"/>
              </a:rPr>
              <a:t>1</a:t>
            </a:r>
          </a:p>
        </p:txBody>
      </p:sp>
      <p:sp>
        <p:nvSpPr>
          <p:cNvPr id="28" name="Text 18"/>
          <p:cNvSpPr txBox="1"/>
          <p:nvPr/>
        </p:nvSpPr>
        <p:spPr>
          <a:xfrm>
            <a:off x="1321307" y="2103120"/>
            <a:ext cx="4315968" cy="420624"/>
          </a:xfrm>
          <a:prstGeom prst="rect">
            <a:avLst/>
          </a:prstGeom>
          <a:noFill/>
        </p:spPr>
        <p:txBody>
          <a:bodyPr wrap="square" anchor="ctr" lIns="0" rIns="0" tIns="0" bIns="0">
            <a:spAutoFit/>
          </a:bodyPr>
          <a:lstStyle/>
          <a:p>
            <a:pPr algn="l" marL="0" indent="0">
              <a:spcAft>
                <a:spcPts val="0"/>
              </a:spcAft>
              <a:buNone/>
            </a:pPr>
            <a:r>
              <a:rPr sz="1700" b="1" i="0">
                <a:solidFill>
                  <a:schemeClr val="tx2"/>
                </a:solidFill>
                <a:latin typeface="Arial"/>
              </a:rPr>
              <a:t>What it does</a:t>
            </a:r>
          </a:p>
        </p:txBody>
      </p:sp>
      <p:sp>
        <p:nvSpPr>
          <p:cNvPr id="29" name="Text 19"/>
          <p:cNvSpPr txBox="1"/>
          <p:nvPr/>
        </p:nvSpPr>
        <p:spPr>
          <a:xfrm>
            <a:off x="845820" y="2651760"/>
            <a:ext cx="4773168" cy="1207008"/>
          </a:xfrm>
          <a:prstGeom prst="rect">
            <a:avLst/>
          </a:prstGeom>
          <a:noFill/>
        </p:spPr>
        <p:txBody>
          <a:bodyPr wrap="square" anchor="t" lIns="0" rIns="0" tIns="0" bIns="0">
            <a:spAutoFit/>
          </a:bodyPr>
          <a:lstStyle/>
          <a:p>
            <a:pPr algn="l" marL="168910" indent="-168910">
              <a:spcAft>
                <a:spcPts val="400"/>
              </a:spcAft>
              <a:buSzPct val="100000"/>
              <a:buChar char="•"/>
            </a:pPr>
            <a:r>
              <a:rPr sz="1400" b="1" i="0">
                <a:solidFill>
                  <a:schemeClr val="tx2"/>
                </a:solidFill>
                <a:latin typeface="Arial"/>
              </a:rPr>
              <a:t>In: </a:t>
            </a:r>
            <a:r>
              <a:rPr sz="1400" b="0" i="0">
                <a:solidFill>
                  <a:schemeClr val="tx2"/>
                </a:solidFill>
                <a:latin typeface="Arial"/>
              </a:rPr>
              <a:t>one batch (lab values, lot records) + one protein target</a:t>
            </a:r>
          </a:p>
          <a:p>
            <a:pPr algn="l" marL="168910" indent="-168910">
              <a:spcAft>
                <a:spcPts val="400"/>
              </a:spcAft>
              <a:buSzPct val="100000"/>
              <a:buChar char="•"/>
            </a:pPr>
            <a:r>
              <a:rPr sz="1400" b="1" i="0">
                <a:solidFill>
                  <a:schemeClr val="tx2"/>
                </a:solidFill>
                <a:latin typeface="Arial"/>
              </a:rPr>
              <a:t>Out: </a:t>
            </a:r>
            <a:r>
              <a:rPr sz="1400" b="0" i="0">
                <a:solidFill>
                  <a:schemeClr val="tx2"/>
                </a:solidFill>
                <a:latin typeface="Arial"/>
              </a:rPr>
              <a:t>GO / NO-GO / TEST-FIRST, with safety, technical, cost and evidence shown separately</a:t>
            </a:r>
          </a:p>
          <a:p>
            <a:pPr algn="l" marL="168910" indent="-168910">
              <a:spcAft>
                <a:spcPts val="400"/>
              </a:spcAft>
              <a:buSzPct val="100000"/>
              <a:buChar char="•"/>
            </a:pPr>
            <a:r>
              <a:rPr sz="1400" b="0" i="0">
                <a:solidFill>
                  <a:schemeClr val="tx2"/>
                </a:solidFill>
                <a:latin typeface="Arial"/>
              </a:rPr>
              <a:t>Plus candidate routes, ₹/kg protein vs imported pea, and the test to run next</a:t>
            </a:r>
          </a:p>
        </p:txBody>
      </p:sp>
      <p:sp>
        <p:nvSpPr>
          <p:cNvPr id="30" name="Card 20"/>
          <p:cNvSpPr/>
          <p:nvPr/>
        </p:nvSpPr>
        <p:spPr>
          <a:xfrm>
            <a:off x="6112764" y="1920240"/>
            <a:ext cx="5276088" cy="2029968"/>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Badge 21"/>
          <p:cNvSpPr/>
          <p:nvPr/>
        </p:nvSpPr>
        <p:spPr>
          <a:xfrm>
            <a:off x="6341364" y="2121408"/>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Aft>
                <a:spcPts val="0"/>
              </a:spcAft>
              <a:buNone/>
            </a:pPr>
            <a:r>
              <a:rPr sz="1400" b="1" i="0">
                <a:solidFill>
                  <a:schemeClr val="bg1"/>
                </a:solidFill>
                <a:latin typeface="Arial"/>
              </a:rPr>
              <a:t>2</a:t>
            </a:r>
          </a:p>
        </p:txBody>
      </p:sp>
      <p:sp>
        <p:nvSpPr>
          <p:cNvPr id="32" name="Text 22"/>
          <p:cNvSpPr txBox="1"/>
          <p:nvPr/>
        </p:nvSpPr>
        <p:spPr>
          <a:xfrm>
            <a:off x="6862572" y="2103120"/>
            <a:ext cx="4315968" cy="420624"/>
          </a:xfrm>
          <a:prstGeom prst="rect">
            <a:avLst/>
          </a:prstGeom>
          <a:noFill/>
        </p:spPr>
        <p:txBody>
          <a:bodyPr wrap="square" anchor="ctr" lIns="0" rIns="0" tIns="0" bIns="0">
            <a:spAutoFit/>
          </a:bodyPr>
          <a:lstStyle/>
          <a:p>
            <a:pPr algn="l" marL="0" indent="0">
              <a:spcAft>
                <a:spcPts val="0"/>
              </a:spcAft>
              <a:buNone/>
            </a:pPr>
            <a:r>
              <a:rPr sz="1700" b="1" i="0">
                <a:solidFill>
                  <a:schemeClr val="tx2"/>
                </a:solidFill>
                <a:latin typeface="Arial"/>
              </a:rPr>
              <a:t>Target customers</a:t>
            </a:r>
          </a:p>
        </p:txBody>
      </p:sp>
      <p:sp>
        <p:nvSpPr>
          <p:cNvPr id="33" name="Text 23"/>
          <p:cNvSpPr txBox="1"/>
          <p:nvPr/>
        </p:nvSpPr>
        <p:spPr>
          <a:xfrm>
            <a:off x="6387083" y="2651760"/>
            <a:ext cx="4773168" cy="1207008"/>
          </a:xfrm>
          <a:prstGeom prst="rect">
            <a:avLst/>
          </a:prstGeom>
          <a:noFill/>
        </p:spPr>
        <p:txBody>
          <a:bodyPr wrap="square" anchor="t" lIns="0" rIns="0" tIns="0" bIns="0">
            <a:spAutoFit/>
          </a:bodyPr>
          <a:lstStyle/>
          <a:p>
            <a:pPr algn="l" marL="168910" indent="-168910">
              <a:spcAft>
                <a:spcPts val="400"/>
              </a:spcAft>
              <a:buSzPct val="100000"/>
              <a:buChar char="•"/>
            </a:pPr>
            <a:r>
              <a:rPr sz="1400" b="0" i="0">
                <a:solidFill>
                  <a:schemeClr val="tx2"/>
                </a:solidFill>
                <a:latin typeface="Arial"/>
              </a:rPr>
              <a:t>Oil mills selling cake at feed prices</a:t>
            </a:r>
          </a:p>
          <a:p>
            <a:pPr algn="l" marL="168910" indent="-168910">
              <a:spcAft>
                <a:spcPts val="400"/>
              </a:spcAft>
              <a:buSzPct val="100000"/>
              <a:buChar char="•"/>
            </a:pPr>
            <a:r>
              <a:rPr sz="1400" b="0" i="0">
                <a:solidFill>
                  <a:schemeClr val="tx2"/>
                </a:solidFill>
                <a:latin typeface="Arial"/>
              </a:rPr>
              <a:t>R&amp;D heads at Indian plant-protein brands hedging pea imports</a:t>
            </a:r>
          </a:p>
          <a:p>
            <a:pPr algn="l" marL="168910" indent="-168910">
              <a:spcAft>
                <a:spcPts val="400"/>
              </a:spcAft>
              <a:buSzPct val="100000"/>
              <a:buChar char="•"/>
            </a:pPr>
            <a:r>
              <a:rPr sz="1400" b="0" i="0">
                <a:solidFill>
                  <a:schemeClr val="tx2"/>
                </a:solidFill>
                <a:latin typeface="Arial"/>
              </a:rPr>
              <a:t>Labs, institutes and incubators choosing which pilots to fund</a:t>
            </a:r>
          </a:p>
        </p:txBody>
      </p:sp>
      <p:sp>
        <p:nvSpPr>
          <p:cNvPr id="34" name="Card 24"/>
          <p:cNvSpPr/>
          <p:nvPr/>
        </p:nvSpPr>
        <p:spPr>
          <a:xfrm>
            <a:off x="571500" y="4178808"/>
            <a:ext cx="5276088" cy="2029968"/>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Badge 25"/>
          <p:cNvSpPr/>
          <p:nvPr/>
        </p:nvSpPr>
        <p:spPr>
          <a:xfrm>
            <a:off x="800100" y="4379976"/>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Aft>
                <a:spcPts val="0"/>
              </a:spcAft>
              <a:buNone/>
            </a:pPr>
            <a:r>
              <a:rPr sz="1400" b="1" i="0">
                <a:solidFill>
                  <a:schemeClr val="bg1"/>
                </a:solidFill>
                <a:latin typeface="Arial"/>
              </a:rPr>
              <a:t>3</a:t>
            </a:r>
          </a:p>
        </p:txBody>
      </p:sp>
      <p:sp>
        <p:nvSpPr>
          <p:cNvPr id="36" name="Text 26"/>
          <p:cNvSpPr txBox="1"/>
          <p:nvPr/>
        </p:nvSpPr>
        <p:spPr>
          <a:xfrm>
            <a:off x="1321307" y="4361688"/>
            <a:ext cx="4315968" cy="420624"/>
          </a:xfrm>
          <a:prstGeom prst="rect">
            <a:avLst/>
          </a:prstGeom>
          <a:noFill/>
        </p:spPr>
        <p:txBody>
          <a:bodyPr wrap="square" anchor="ctr" lIns="0" rIns="0" tIns="0" bIns="0">
            <a:spAutoFit/>
          </a:bodyPr>
          <a:lstStyle/>
          <a:p>
            <a:pPr algn="l" marL="0" indent="0">
              <a:spcAft>
                <a:spcPts val="0"/>
              </a:spcAft>
              <a:buNone/>
            </a:pPr>
            <a:r>
              <a:rPr sz="1700" b="1" i="0">
                <a:solidFill>
                  <a:schemeClr val="tx2"/>
                </a:solidFill>
                <a:latin typeface="Arial"/>
              </a:rPr>
              <a:t>Scale-up in the next 6 months</a:t>
            </a:r>
          </a:p>
        </p:txBody>
      </p:sp>
      <p:sp>
        <p:nvSpPr>
          <p:cNvPr id="37" name="Text 27"/>
          <p:cNvSpPr txBox="1"/>
          <p:nvPr/>
        </p:nvSpPr>
        <p:spPr>
          <a:xfrm>
            <a:off x="845820" y="4910328"/>
            <a:ext cx="4773168" cy="1207008"/>
          </a:xfrm>
          <a:prstGeom prst="rect">
            <a:avLst/>
          </a:prstGeom>
          <a:noFill/>
        </p:spPr>
        <p:txBody>
          <a:bodyPr wrap="square" anchor="t" lIns="0" rIns="0" tIns="0" bIns="0">
            <a:spAutoFit/>
          </a:bodyPr>
          <a:lstStyle/>
          <a:p>
            <a:pPr algn="l" marL="168910" indent="-168910">
              <a:spcAft>
                <a:spcPts val="400"/>
              </a:spcAft>
              <a:buSzPct val="100000"/>
              <a:buChar char="•"/>
            </a:pPr>
            <a:r>
              <a:rPr sz="1400" b="1" i="0">
                <a:solidFill>
                  <a:schemeClr val="tx2"/>
                </a:solidFill>
                <a:latin typeface="Arial"/>
              </a:rPr>
              <a:t>Month 0–1: </a:t>
            </a:r>
            <a:r>
              <a:rPr sz="1400" b="0" i="0">
                <a:solidFill>
                  <a:schemeClr val="tx2"/>
                </a:solidFill>
                <a:latin typeface="Arial"/>
              </a:rPr>
              <a:t>safety assays on 3–5 food-grade lots</a:t>
            </a:r>
          </a:p>
          <a:p>
            <a:pPr algn="l" marL="168910" indent="-168910">
              <a:spcAft>
                <a:spcPts val="400"/>
              </a:spcAft>
              <a:buSzPct val="100000"/>
              <a:buChar char="•"/>
            </a:pPr>
            <a:r>
              <a:rPr sz="1400" b="1" i="0">
                <a:solidFill>
                  <a:schemeClr val="tx2"/>
                </a:solidFill>
                <a:latin typeface="Arial"/>
              </a:rPr>
              <a:t>Month 1–4: </a:t>
            </a:r>
            <a:r>
              <a:rPr sz="1400" b="0" i="0">
                <a:solidFill>
                  <a:schemeClr val="tx2"/>
                </a:solidFill>
                <a:latin typeface="Arial"/>
              </a:rPr>
              <a:t>bench trials of 2 routes; sensory and functional tests</a:t>
            </a:r>
          </a:p>
          <a:p>
            <a:pPr algn="l" marL="168910" indent="-168910">
              <a:spcAft>
                <a:spcPts val="400"/>
              </a:spcAft>
              <a:buSzPct val="100000"/>
              <a:buChar char="•"/>
            </a:pPr>
            <a:r>
              <a:rPr sz="1400" b="1" i="0">
                <a:solidFill>
                  <a:schemeClr val="tx2"/>
                </a:solidFill>
                <a:latin typeface="Arial"/>
              </a:rPr>
              <a:t>Month 4–6: </a:t>
            </a:r>
            <a:r>
              <a:rPr sz="1400" b="0" i="0">
                <a:solidFill>
                  <a:schemeClr val="tx2"/>
                </a:solidFill>
                <a:latin typeface="Arial"/>
              </a:rPr>
              <a:t>≈10 t pilot run; re-run on measured data; customer samples</a:t>
            </a:r>
          </a:p>
        </p:txBody>
      </p:sp>
      <p:sp>
        <p:nvSpPr>
          <p:cNvPr id="38" name="Card 28"/>
          <p:cNvSpPr/>
          <p:nvPr/>
        </p:nvSpPr>
        <p:spPr>
          <a:xfrm>
            <a:off x="6112764" y="4178808"/>
            <a:ext cx="5276088" cy="2029968"/>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Badge 29"/>
          <p:cNvSpPr/>
          <p:nvPr/>
        </p:nvSpPr>
        <p:spPr>
          <a:xfrm>
            <a:off x="6341364" y="4379976"/>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Aft>
                <a:spcPts val="0"/>
              </a:spcAft>
              <a:buNone/>
            </a:pPr>
            <a:r>
              <a:rPr sz="1400" b="1" i="0">
                <a:solidFill>
                  <a:schemeClr val="bg1"/>
                </a:solidFill>
                <a:latin typeface="Arial"/>
              </a:rPr>
              <a:t>4</a:t>
            </a:r>
          </a:p>
        </p:txBody>
      </p:sp>
      <p:sp>
        <p:nvSpPr>
          <p:cNvPr id="40" name="Text 30"/>
          <p:cNvSpPr txBox="1"/>
          <p:nvPr/>
        </p:nvSpPr>
        <p:spPr>
          <a:xfrm>
            <a:off x="6862572" y="4361688"/>
            <a:ext cx="4315968" cy="420624"/>
          </a:xfrm>
          <a:prstGeom prst="rect">
            <a:avLst/>
          </a:prstGeom>
          <a:noFill/>
        </p:spPr>
        <p:txBody>
          <a:bodyPr wrap="square" anchor="ctr" lIns="0" rIns="0" tIns="0" bIns="0">
            <a:spAutoFit/>
          </a:bodyPr>
          <a:lstStyle/>
          <a:p>
            <a:pPr algn="l" marL="0" indent="0">
              <a:spcAft>
                <a:spcPts val="0"/>
              </a:spcAft>
              <a:buNone/>
            </a:pPr>
            <a:r>
              <a:rPr sz="1700" b="1" i="0">
                <a:solidFill>
                  <a:schemeClr val="tx2"/>
                </a:solidFill>
                <a:latin typeface="Arial"/>
              </a:rPr>
              <a:t>Resources we need</a:t>
            </a:r>
          </a:p>
        </p:txBody>
      </p:sp>
      <p:sp>
        <p:nvSpPr>
          <p:cNvPr id="41" name="Text 31"/>
          <p:cNvSpPr txBox="1"/>
          <p:nvPr/>
        </p:nvSpPr>
        <p:spPr>
          <a:xfrm>
            <a:off x="6387083" y="4910328"/>
            <a:ext cx="4773168" cy="1207008"/>
          </a:xfrm>
          <a:prstGeom prst="rect">
            <a:avLst/>
          </a:prstGeom>
          <a:noFill/>
        </p:spPr>
        <p:txBody>
          <a:bodyPr wrap="square" anchor="t" lIns="0" rIns="0" tIns="0" bIns="0">
            <a:spAutoFit/>
          </a:bodyPr>
          <a:lstStyle/>
          <a:p>
            <a:pPr algn="l" marL="168910" indent="-168910">
              <a:spcAft>
                <a:spcPts val="400"/>
              </a:spcAft>
              <a:buSzPct val="100000"/>
              <a:buChar char="•"/>
            </a:pPr>
            <a:r>
              <a:rPr sz="1400" b="0" i="0">
                <a:solidFill>
                  <a:schemeClr val="tx2"/>
                </a:solidFill>
                <a:latin typeface="Arial"/>
              </a:rPr>
              <a:t>A food-grade oil mill and an accredited (NABL) lab</a:t>
            </a:r>
          </a:p>
          <a:p>
            <a:pPr algn="l" marL="168910" indent="-168910">
              <a:spcAft>
                <a:spcPts val="400"/>
              </a:spcAft>
              <a:buSzPct val="100000"/>
              <a:buChar char="•"/>
            </a:pPr>
            <a:r>
              <a:rPr sz="1400" b="0" i="0">
                <a:solidFill>
                  <a:schemeClr val="tx2"/>
                </a:solidFill>
                <a:latin typeface="Arial"/>
              </a:rPr>
              <a:t>A brand willing to test samples, and a pilot-plant slot</a:t>
            </a:r>
          </a:p>
          <a:p>
            <a:pPr algn="l" marL="168910" indent="-168910">
              <a:spcAft>
                <a:spcPts val="400"/>
              </a:spcAft>
              <a:buSzPct val="100000"/>
              <a:buChar char="•"/>
            </a:pPr>
            <a:r>
              <a:rPr sz="1400" b="0" i="0">
                <a:solidFill>
                  <a:schemeClr val="tx2"/>
                </a:solidFill>
                <a:latin typeface="Arial"/>
              </a:rPr>
              <a:t>Budget set from lab quotes (the tool will not guess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71500" y="1016000"/>
            <a:ext cx="9525000" cy="825500"/>
          </a:xfrm>
          <a:prstGeom prst="rect">
            <a:avLst/>
          </a:prstGeom>
          <a:noFill/>
          <a:ln/>
        </p:spPr>
        <p:txBody>
          <a:bodyPr wrap="square" lIns="0" tIns="0" rIns="0" bIns="0" rtlCol="0" anchor="ctr"/>
          <a:lstStyle/>
          <a:p>
            <a:pPr marL="0" indent="0" algn="l">
              <a:buNone/>
            </a:pPr>
            <a:r>
              <a:rPr lang="en-US" sz="4200" dirty="0"/>
              <a:t>The Model</a:t>
            </a:r>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1B1464"/>
                </a:solidFill>
                <a:latin typeface="Arial"/>
                <a:ea typeface="Arial"/>
                <a:cs typeface="Arial"/>
              </a:defRPr>
            </a:lvl1pPr>
          </a:lstStyle>
          <a:p>
            <a:pPr algn="r"/>
            <a:fld id="{F7021451-1387-4CA6-816F-3879F97B5CBC}" type="slidenum">
              <a:rPr lang="en-US" b="0"/>
              <a:t>4</a:t>
            </a:fld>
            <a:endParaRPr lang="en-US"/>
          </a:p>
        </p:txBody>
      </p:sp>
      <p:sp>
        <p:nvSpPr>
          <p:cNvPr id="26" name="Card 32"/>
          <p:cNvSpPr/>
          <p:nvPr/>
        </p:nvSpPr>
        <p:spPr>
          <a:xfrm>
            <a:off x="571500" y="1920240"/>
            <a:ext cx="1581912" cy="11430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33"/>
          <p:cNvSpPr txBox="1"/>
          <p:nvPr/>
        </p:nvSpPr>
        <p:spPr>
          <a:xfrm>
            <a:off x="662940" y="1975104"/>
            <a:ext cx="1399032" cy="1033271"/>
          </a:xfrm>
          <a:prstGeom prst="rect">
            <a:avLst/>
          </a:prstGeom>
          <a:noFill/>
        </p:spPr>
        <p:txBody>
          <a:bodyPr wrap="square" anchor="ctr" lIns="0" rIns="0" tIns="0" bIns="0">
            <a:spAutoFit/>
          </a:bodyPr>
          <a:lstStyle/>
          <a:p>
            <a:pPr algn="ctr" marL="0" indent="0">
              <a:spcAft>
                <a:spcPts val="300"/>
              </a:spcAft>
              <a:buNone/>
            </a:pPr>
            <a:r>
              <a:rPr sz="1300" b="1" i="0">
                <a:solidFill>
                  <a:schemeClr val="bg1"/>
                </a:solidFill>
                <a:latin typeface="Arial"/>
              </a:rPr>
              <a:t>Batch + target</a:t>
            </a:r>
          </a:p>
          <a:p>
            <a:pPr algn="ctr" marL="0" indent="0">
              <a:spcAft>
                <a:spcPts val="0"/>
              </a:spcAft>
              <a:buNone/>
            </a:pPr>
            <a:r>
              <a:rPr sz="1100" b="0" i="0">
                <a:solidFill>
                  <a:schemeClr val="bg1"/>
                </a:solidFill>
                <a:latin typeface="Arial"/>
              </a:rPr>
              <a:t>lab values, lot records, protein target</a:t>
            </a:r>
          </a:p>
        </p:txBody>
      </p:sp>
      <p:sp>
        <p:nvSpPr>
          <p:cNvPr id="28" name="Arrow 34"/>
          <p:cNvSpPr/>
          <p:nvPr/>
        </p:nvSpPr>
        <p:spPr>
          <a:xfrm>
            <a:off x="2199132" y="2377440"/>
            <a:ext cx="173736" cy="228600"/>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rd 35"/>
          <p:cNvSpPr/>
          <p:nvPr/>
        </p:nvSpPr>
        <p:spPr>
          <a:xfrm>
            <a:off x="2418588" y="1920240"/>
            <a:ext cx="1581912" cy="11430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36"/>
          <p:cNvSpPr txBox="1"/>
          <p:nvPr/>
        </p:nvSpPr>
        <p:spPr>
          <a:xfrm>
            <a:off x="2510028" y="1975104"/>
            <a:ext cx="1399032" cy="1033271"/>
          </a:xfrm>
          <a:prstGeom prst="rect">
            <a:avLst/>
          </a:prstGeom>
          <a:noFill/>
        </p:spPr>
        <p:txBody>
          <a:bodyPr wrap="square" anchor="ctr" lIns="0" rIns="0" tIns="0" bIns="0">
            <a:spAutoFit/>
          </a:bodyPr>
          <a:lstStyle/>
          <a:p>
            <a:pPr algn="ctr" marL="0" indent="0">
              <a:spcAft>
                <a:spcPts val="300"/>
              </a:spcAft>
              <a:buNone/>
            </a:pPr>
            <a:r>
              <a:rPr sz="1300" b="1" i="0">
                <a:solidFill>
                  <a:schemeClr val="tx2"/>
                </a:solidFill>
                <a:latin typeface="Arial"/>
              </a:rPr>
              <a:t>Safety gates</a:t>
            </a:r>
          </a:p>
          <a:p>
            <a:pPr algn="ctr" marL="0" indent="0">
              <a:spcAft>
                <a:spcPts val="0"/>
              </a:spcAft>
              <a:buNone/>
            </a:pPr>
            <a:r>
              <a:rPr sz="1100" b="0" i="0">
                <a:solidFill>
                  <a:schemeClr val="tx2"/>
                </a:solidFill>
                <a:latin typeface="Arial"/>
              </a:rPr>
              <a:t>G1–G7, measured evidence only</a:t>
            </a:r>
          </a:p>
        </p:txBody>
      </p:sp>
      <p:sp>
        <p:nvSpPr>
          <p:cNvPr id="31" name="Arrow 37"/>
          <p:cNvSpPr/>
          <p:nvPr/>
        </p:nvSpPr>
        <p:spPr>
          <a:xfrm>
            <a:off x="4046220" y="2377440"/>
            <a:ext cx="173736" cy="228600"/>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ard 38"/>
          <p:cNvSpPr/>
          <p:nvPr/>
        </p:nvSpPr>
        <p:spPr>
          <a:xfrm>
            <a:off x="4265676" y="1920240"/>
            <a:ext cx="1581912" cy="11430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 39"/>
          <p:cNvSpPr txBox="1"/>
          <p:nvPr/>
        </p:nvSpPr>
        <p:spPr>
          <a:xfrm>
            <a:off x="4357116" y="1975104"/>
            <a:ext cx="1399032" cy="1033271"/>
          </a:xfrm>
          <a:prstGeom prst="rect">
            <a:avLst/>
          </a:prstGeom>
          <a:noFill/>
        </p:spPr>
        <p:txBody>
          <a:bodyPr wrap="square" anchor="ctr" lIns="0" rIns="0" tIns="0" bIns="0">
            <a:spAutoFit/>
          </a:bodyPr>
          <a:lstStyle/>
          <a:p>
            <a:pPr algn="ctr" marL="0" indent="0">
              <a:spcAft>
                <a:spcPts val="300"/>
              </a:spcAft>
              <a:buNone/>
            </a:pPr>
            <a:r>
              <a:rPr sz="1300" b="1" i="0">
                <a:solidFill>
                  <a:schemeClr val="tx2"/>
                </a:solidFill>
                <a:latin typeface="Arial"/>
              </a:rPr>
              <a:t>Diagnosis</a:t>
            </a:r>
          </a:p>
          <a:p>
            <a:pPr algn="ctr" marL="0" indent="0">
              <a:spcAft>
                <a:spcPts val="0"/>
              </a:spcAft>
              <a:buNone/>
            </a:pPr>
            <a:r>
              <a:rPr sz="1100" b="0" i="0">
                <a:solidFill>
                  <a:schemeClr val="tx2"/>
                </a:solidFill>
                <a:latin typeface="Arial"/>
              </a:rPr>
              <a:t>what blocks this use</a:t>
            </a:r>
          </a:p>
        </p:txBody>
      </p:sp>
      <p:sp>
        <p:nvSpPr>
          <p:cNvPr id="34" name="Arrow 40"/>
          <p:cNvSpPr/>
          <p:nvPr/>
        </p:nvSpPr>
        <p:spPr>
          <a:xfrm>
            <a:off x="5893307" y="2377440"/>
            <a:ext cx="173736" cy="228600"/>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ard 41"/>
          <p:cNvSpPr/>
          <p:nvPr/>
        </p:nvSpPr>
        <p:spPr>
          <a:xfrm>
            <a:off x="6112764" y="1920240"/>
            <a:ext cx="1581912" cy="11430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 42"/>
          <p:cNvSpPr txBox="1"/>
          <p:nvPr/>
        </p:nvSpPr>
        <p:spPr>
          <a:xfrm>
            <a:off x="6204204" y="1975104"/>
            <a:ext cx="1399032" cy="1033271"/>
          </a:xfrm>
          <a:prstGeom prst="rect">
            <a:avLst/>
          </a:prstGeom>
          <a:noFill/>
        </p:spPr>
        <p:txBody>
          <a:bodyPr wrap="square" anchor="ctr" lIns="0" rIns="0" tIns="0" bIns="0">
            <a:spAutoFit/>
          </a:bodyPr>
          <a:lstStyle/>
          <a:p>
            <a:pPr algn="ctr" marL="0" indent="0">
              <a:spcAft>
                <a:spcPts val="300"/>
              </a:spcAft>
              <a:buNone/>
            </a:pPr>
            <a:r>
              <a:rPr sz="1300" b="1" i="0">
                <a:solidFill>
                  <a:schemeClr val="tx2"/>
                </a:solidFill>
                <a:latin typeface="Arial"/>
              </a:rPr>
              <a:t>Candidate routes</a:t>
            </a:r>
          </a:p>
          <a:p>
            <a:pPr algn="ctr" marL="0" indent="0">
              <a:spcAft>
                <a:spcPts val="0"/>
              </a:spcAft>
              <a:buNone/>
            </a:pPr>
            <a:r>
              <a:rPr sz="1100" b="0" i="0">
                <a:solidFill>
                  <a:schemeClr val="tx2"/>
                </a:solidFill>
                <a:latin typeface="Arial"/>
              </a:rPr>
              <a:t>extrusion, phytase, alkaline extraction</a:t>
            </a:r>
          </a:p>
        </p:txBody>
      </p:sp>
      <p:sp>
        <p:nvSpPr>
          <p:cNvPr id="37" name="Arrow 43"/>
          <p:cNvSpPr/>
          <p:nvPr/>
        </p:nvSpPr>
        <p:spPr>
          <a:xfrm>
            <a:off x="7740396" y="2377440"/>
            <a:ext cx="173736" cy="228600"/>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ard 44"/>
          <p:cNvSpPr/>
          <p:nvPr/>
        </p:nvSpPr>
        <p:spPr>
          <a:xfrm>
            <a:off x="7959852" y="1920240"/>
            <a:ext cx="1581912" cy="11430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 45"/>
          <p:cNvSpPr txBox="1"/>
          <p:nvPr/>
        </p:nvSpPr>
        <p:spPr>
          <a:xfrm>
            <a:off x="8051292" y="1975104"/>
            <a:ext cx="1399032" cy="1033271"/>
          </a:xfrm>
          <a:prstGeom prst="rect">
            <a:avLst/>
          </a:prstGeom>
          <a:noFill/>
        </p:spPr>
        <p:txBody>
          <a:bodyPr wrap="square" anchor="ctr" lIns="0" rIns="0" tIns="0" bIns="0">
            <a:spAutoFit/>
          </a:bodyPr>
          <a:lstStyle/>
          <a:p>
            <a:pPr algn="ctr" marL="0" indent="0">
              <a:spcAft>
                <a:spcPts val="300"/>
              </a:spcAft>
              <a:buNone/>
            </a:pPr>
            <a:r>
              <a:rPr sz="1300" b="1" i="0">
                <a:solidFill>
                  <a:schemeClr val="tx2"/>
                </a:solidFill>
                <a:latin typeface="Arial"/>
              </a:rPr>
              <a:t>Mass balance + cost</a:t>
            </a:r>
          </a:p>
          <a:p>
            <a:pPr algn="ctr" marL="0" indent="0">
              <a:spcAft>
                <a:spcPts val="0"/>
              </a:spcAft>
              <a:buNone/>
            </a:pPr>
            <a:r>
              <a:rPr sz="1100" b="0" i="0">
                <a:solidFill>
                  <a:schemeClr val="tx2"/>
                </a:solidFill>
                <a:latin typeface="Arial"/>
              </a:rPr>
              <a:t>₹/kg protein vs landed pea</a:t>
            </a:r>
          </a:p>
        </p:txBody>
      </p:sp>
      <p:sp>
        <p:nvSpPr>
          <p:cNvPr id="40" name="Arrow 46"/>
          <p:cNvSpPr/>
          <p:nvPr/>
        </p:nvSpPr>
        <p:spPr>
          <a:xfrm>
            <a:off x="9587484" y="2377440"/>
            <a:ext cx="173736" cy="228600"/>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ard 47"/>
          <p:cNvSpPr/>
          <p:nvPr/>
        </p:nvSpPr>
        <p:spPr>
          <a:xfrm>
            <a:off x="9806940" y="1920240"/>
            <a:ext cx="1581912" cy="11430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48"/>
          <p:cNvSpPr txBox="1"/>
          <p:nvPr/>
        </p:nvSpPr>
        <p:spPr>
          <a:xfrm>
            <a:off x="9898380" y="1975104"/>
            <a:ext cx="1399032" cy="1033271"/>
          </a:xfrm>
          <a:prstGeom prst="rect">
            <a:avLst/>
          </a:prstGeom>
          <a:noFill/>
        </p:spPr>
        <p:txBody>
          <a:bodyPr wrap="square" anchor="ctr" lIns="0" rIns="0" tIns="0" bIns="0">
            <a:spAutoFit/>
          </a:bodyPr>
          <a:lstStyle/>
          <a:p>
            <a:pPr algn="ctr" marL="0" indent="0">
              <a:spcAft>
                <a:spcPts val="300"/>
              </a:spcAft>
              <a:buNone/>
            </a:pPr>
            <a:r>
              <a:rPr sz="1300" b="1" i="0">
                <a:solidFill>
                  <a:schemeClr val="bg1"/>
                </a:solidFill>
                <a:latin typeface="Arial"/>
              </a:rPr>
              <a:t>Decision</a:t>
            </a:r>
          </a:p>
          <a:p>
            <a:pPr algn="ctr" marL="0" indent="0">
              <a:spcAft>
                <a:spcPts val="0"/>
              </a:spcAft>
              <a:buNone/>
            </a:pPr>
            <a:r>
              <a:rPr sz="1100" b="0" i="0">
                <a:solidFill>
                  <a:schemeClr val="bg1"/>
                </a:solidFill>
                <a:latin typeface="Arial"/>
              </a:rPr>
              <a:t>verdict, readiness, next test, 6-month plan</a:t>
            </a:r>
          </a:p>
        </p:txBody>
      </p:sp>
      <p:sp>
        <p:nvSpPr>
          <p:cNvPr id="43" name="Card 49"/>
          <p:cNvSpPr/>
          <p:nvPr/>
        </p:nvSpPr>
        <p:spPr>
          <a:xfrm>
            <a:off x="571500" y="3291840"/>
            <a:ext cx="3429000" cy="246888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50"/>
          <p:cNvSpPr txBox="1"/>
          <p:nvPr/>
        </p:nvSpPr>
        <p:spPr>
          <a:xfrm>
            <a:off x="772668" y="3419856"/>
            <a:ext cx="3063240" cy="2286000"/>
          </a:xfrm>
          <a:prstGeom prst="rect">
            <a:avLst/>
          </a:prstGeom>
          <a:noFill/>
        </p:spPr>
        <p:txBody>
          <a:bodyPr wrap="square" anchor="t" lIns="0" rIns="0" tIns="0" bIns="0">
            <a:spAutoFit/>
          </a:bodyPr>
          <a:lstStyle/>
          <a:p>
            <a:pPr algn="l" marL="0" indent="0">
              <a:spcAft>
                <a:spcPts val="600"/>
              </a:spcAft>
              <a:buNone/>
            </a:pPr>
            <a:r>
              <a:rPr sz="1500" b="1" i="0">
                <a:solidFill>
                  <a:schemeClr val="tx2"/>
                </a:solidFill>
                <a:latin typeface="Arial"/>
              </a:rPr>
              <a:t>Data used</a:t>
            </a:r>
          </a:p>
          <a:p>
            <a:pPr algn="l" marL="162877" indent="-162877">
              <a:spcAft>
                <a:spcPts val="500"/>
              </a:spcAft>
              <a:buSzPct val="100000"/>
              <a:buChar char="•"/>
            </a:pPr>
            <a:r>
              <a:rPr sz="1350" b="0" i="0">
                <a:solidFill>
                  <a:schemeClr val="tx2"/>
                </a:solidFill>
                <a:latin typeface="Arial"/>
              </a:rPr>
              <a:t>36 cited sources; 75 research records; 8 functional properties</a:t>
            </a:r>
          </a:p>
          <a:p>
            <a:pPr algn="l" marL="162877" indent="-162877">
              <a:spcAft>
                <a:spcPts val="500"/>
              </a:spcAft>
              <a:buSzPct val="100000"/>
              <a:buChar char="•"/>
            </a:pPr>
            <a:r>
              <a:rPr sz="1350" b="0" i="0">
                <a:solidFill>
                  <a:schemeClr val="tx2"/>
                </a:solidFill>
                <a:latin typeface="Arial"/>
              </a:rPr>
              <a:t>Every value tagged measured, published, assumed or synthetic, with grade and source</a:t>
            </a:r>
          </a:p>
          <a:p>
            <a:pPr algn="l" marL="162877" indent="-162877">
              <a:spcAft>
                <a:spcPts val="500"/>
              </a:spcAft>
              <a:buSzPct val="100000"/>
              <a:buChar char="•"/>
            </a:pPr>
            <a:r>
              <a:rPr sz="1350" b="0" i="0">
                <a:solidFill>
                  <a:schemeClr val="tx2"/>
                </a:solidFill>
                <a:latin typeface="Arial"/>
              </a:rPr>
              <a:t>Inputs as ranges, sampled 8,192 times (Sobol quasi-Monte Carlo)</a:t>
            </a:r>
          </a:p>
        </p:txBody>
      </p:sp>
      <p:sp>
        <p:nvSpPr>
          <p:cNvPr id="45" name="Card 51"/>
          <p:cNvSpPr/>
          <p:nvPr/>
        </p:nvSpPr>
        <p:spPr>
          <a:xfrm>
            <a:off x="4265676" y="3291840"/>
            <a:ext cx="3429000" cy="246888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52"/>
          <p:cNvSpPr txBox="1"/>
          <p:nvPr/>
        </p:nvSpPr>
        <p:spPr>
          <a:xfrm>
            <a:off x="4466844" y="3419856"/>
            <a:ext cx="3063240" cy="2286000"/>
          </a:xfrm>
          <a:prstGeom prst="rect">
            <a:avLst/>
          </a:prstGeom>
          <a:noFill/>
        </p:spPr>
        <p:txBody>
          <a:bodyPr wrap="square" anchor="t" lIns="0" rIns="0" tIns="0" bIns="0">
            <a:spAutoFit/>
          </a:bodyPr>
          <a:lstStyle/>
          <a:p>
            <a:pPr algn="l" marL="0" indent="0">
              <a:spcAft>
                <a:spcPts val="600"/>
              </a:spcAft>
              <a:buNone/>
            </a:pPr>
            <a:r>
              <a:rPr sz="1500" b="1" i="0">
                <a:solidFill>
                  <a:schemeClr val="tx2"/>
                </a:solidFill>
                <a:latin typeface="Arial"/>
              </a:rPr>
              <a:t>AI and what makes it different</a:t>
            </a:r>
          </a:p>
          <a:p>
            <a:pPr algn="l" marL="162877" indent="-162877">
              <a:spcAft>
                <a:spcPts val="500"/>
              </a:spcAft>
              <a:buSzPct val="100000"/>
              <a:buChar char="•"/>
            </a:pPr>
            <a:r>
              <a:rPr sz="1350" b="0" i="0">
                <a:solidFill>
                  <a:schemeClr val="tx2"/>
                </a:solidFill>
                <a:latin typeface="Arial"/>
              </a:rPr>
              <a:t>A probabilistic decision engine, not a chatbot</a:t>
            </a:r>
          </a:p>
          <a:p>
            <a:pPr algn="l" marL="162877" indent="-162877">
              <a:spcAft>
                <a:spcPts val="500"/>
              </a:spcAft>
              <a:buSzPct val="100000"/>
              <a:buChar char="•"/>
            </a:pPr>
            <a:r>
              <a:rPr sz="1350" b="0" i="0">
                <a:solidFill>
                  <a:schemeClr val="tx2"/>
                </a:solidFill>
                <a:latin typeface="Arial"/>
              </a:rPr>
              <a:t>The LLM (Amazon Bedrock) only parses text and explains; a verifier rejects any number not in the engine output</a:t>
            </a:r>
          </a:p>
          <a:p>
            <a:pPr algn="l" marL="162877" indent="-162877">
              <a:spcAft>
                <a:spcPts val="500"/>
              </a:spcAft>
              <a:buSzPct val="100000"/>
              <a:buChar char="•"/>
            </a:pPr>
            <a:r>
              <a:rPr sz="1350" b="0" i="0">
                <a:solidFill>
                  <a:schemeClr val="tx2"/>
                </a:solidFill>
                <a:latin typeface="Arial"/>
              </a:rPr>
              <a:t>Safety first, priced per kg protein, and says what it does not know</a:t>
            </a:r>
          </a:p>
        </p:txBody>
      </p:sp>
      <p:sp>
        <p:nvSpPr>
          <p:cNvPr id="47" name="Card 53"/>
          <p:cNvSpPr/>
          <p:nvPr/>
        </p:nvSpPr>
        <p:spPr>
          <a:xfrm>
            <a:off x="7959852" y="3291840"/>
            <a:ext cx="3429000" cy="246888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54"/>
          <p:cNvSpPr txBox="1"/>
          <p:nvPr/>
        </p:nvSpPr>
        <p:spPr>
          <a:xfrm>
            <a:off x="8161020" y="3419856"/>
            <a:ext cx="3063240" cy="2286000"/>
          </a:xfrm>
          <a:prstGeom prst="rect">
            <a:avLst/>
          </a:prstGeom>
          <a:noFill/>
        </p:spPr>
        <p:txBody>
          <a:bodyPr wrap="square" anchor="t" lIns="0" rIns="0" tIns="0" bIns="0">
            <a:spAutoFit/>
          </a:bodyPr>
          <a:lstStyle/>
          <a:p>
            <a:pPr algn="l" marL="0" indent="0">
              <a:spcAft>
                <a:spcPts val="600"/>
              </a:spcAft>
              <a:buNone/>
            </a:pPr>
            <a:r>
              <a:rPr sz="1500" b="1" i="0">
                <a:solidFill>
                  <a:schemeClr val="tx2"/>
                </a:solidFill>
                <a:latin typeface="Arial"/>
              </a:rPr>
              <a:t>Results</a:t>
            </a:r>
          </a:p>
          <a:p>
            <a:pPr algn="l" marL="162877" indent="-162877">
              <a:spcAft>
                <a:spcPts val="500"/>
              </a:spcAft>
              <a:buSzPct val="100000"/>
              <a:buChar char="•"/>
            </a:pPr>
            <a:r>
              <a:rPr sz="1350" b="0" i="0">
                <a:solidFill>
                  <a:schemeClr val="tx2"/>
                </a:solidFill>
                <a:latin typeface="Arial"/>
              </a:rPr>
              <a:t>5 presets, each analysed in about 0.2 s</a:t>
            </a:r>
          </a:p>
          <a:p>
            <a:pPr algn="l" marL="162877" indent="-162877">
              <a:spcAft>
                <a:spcPts val="500"/>
              </a:spcAft>
              <a:buSzPct val="100000"/>
              <a:buChar char="•"/>
            </a:pPr>
            <a:r>
              <a:rPr sz="1350" b="0" i="0">
                <a:solidFill>
                  <a:schemeClr val="tx2"/>
                </a:solidFill>
                <a:latin typeface="Arial"/>
              </a:rPr>
              <a:t>170 automated tests pass</a:t>
            </a:r>
          </a:p>
          <a:p>
            <a:pPr algn="l" marL="162877" indent="-162877">
              <a:spcAft>
                <a:spcPts val="500"/>
              </a:spcAft>
              <a:buSzPct val="100000"/>
              <a:buChar char="•"/>
            </a:pPr>
            <a:r>
              <a:rPr sz="1350" b="0" i="0">
                <a:solidFill>
                  <a:schemeClr val="tx2"/>
                </a:solidFill>
                <a:latin typeface="Arial"/>
              </a:rPr>
              <a:t>Offline: 10 stamped snapshots, English and Hindi</a:t>
            </a:r>
          </a:p>
          <a:p>
            <a:pPr algn="l" marL="162877" indent="-162877">
              <a:spcAft>
                <a:spcPts val="500"/>
              </a:spcAft>
              <a:buSzPct val="100000"/>
              <a:buChar char="•"/>
            </a:pPr>
            <a:r>
              <a:rPr sz="1350" b="0" i="0">
                <a:solidFill>
                  <a:schemeClr val="tx2"/>
                </a:solidFill>
                <a:latin typeface="Arial"/>
              </a:rPr>
              <a:t>One lab value changes the verdict (lead 1.6 mg/kg → NO-GO)</a:t>
            </a:r>
          </a:p>
        </p:txBody>
      </p:sp>
      <p:sp>
        <p:nvSpPr>
          <p:cNvPr id="49" name="Text 55"/>
          <p:cNvSpPr txBox="1"/>
          <p:nvPr/>
        </p:nvSpPr>
        <p:spPr>
          <a:xfrm>
            <a:off x="571500" y="5897880"/>
            <a:ext cx="10817352" cy="274320"/>
          </a:xfrm>
          <a:prstGeom prst="rect">
            <a:avLst/>
          </a:prstGeom>
          <a:noFill/>
        </p:spPr>
        <p:txBody>
          <a:bodyPr wrap="square" anchor="t" lIns="0" rIns="0" tIns="0" bIns="0">
            <a:spAutoFit/>
          </a:bodyPr>
          <a:lstStyle/>
          <a:p>
            <a:pPr algn="l" marL="0" indent="0">
              <a:spcAft>
                <a:spcPts val="600"/>
              </a:spcAft>
              <a:buNone/>
            </a:pPr>
            <a:r>
              <a:rPr sz="1100" b="0" i="1">
                <a:solidFill>
                  <a:schemeClr val="accent5"/>
                </a:solidFill>
                <a:latin typeface="Arial"/>
              </a:rPr>
              <a:t>Built with Python, NumPy, SciPy, FastAPI, Pydantic, React + TypeScript and SQLite; Amazon Bedrock as the optional LLM, with a fixed template as fallback.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71500" y="1016000"/>
            <a:ext cx="9525000" cy="825500"/>
          </a:xfrm>
          <a:prstGeom prst="rect">
            <a:avLst/>
          </a:prstGeom>
          <a:noFill/>
          <a:ln/>
        </p:spPr>
        <p:txBody>
          <a:bodyPr wrap="square" lIns="0" tIns="0" rIns="0" bIns="0" rtlCol="0" anchor="ctr"/>
          <a:lstStyle/>
          <a:p>
            <a:pPr marL="0" indent="0" algn="l">
              <a:buNone/>
            </a:pPr>
            <a:r>
              <a:rPr lang="en-US" sz="4200" b="1" dirty="0">
                <a:solidFill>
                  <a:schemeClr val="tx2"/>
                </a:solidFill>
                <a:latin typeface="Arial" pitchFamily="34" charset="0"/>
                <a:ea typeface="Arial" pitchFamily="34" charset="-122"/>
                <a:cs typeface="Arial" pitchFamily="34" charset="-120"/>
              </a:rPr>
              <a:t>Prototype Demo</a:t>
            </a:r>
            <a:endParaRPr lang="en-US" sz="4200" dirty="0"/>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1B1464"/>
                </a:solidFill>
                <a:latin typeface="Arial"/>
                <a:ea typeface="Arial"/>
                <a:cs typeface="Arial"/>
              </a:defRPr>
            </a:lvl1pPr>
          </a:lstStyle>
          <a:p>
            <a:pPr algn="r"/>
            <a:fld id="{F7021451-1387-4CA6-816F-3879F97B5CBC}" type="slidenum">
              <a:rPr lang="en-US" b="0"/>
              <a:t>5</a:t>
            </a:fld>
            <a:endParaRPr lang="en-US"/>
          </a:p>
        </p:txBody>
      </p:sp>
      <p:sp>
        <p:nvSpPr>
          <p:cNvPr id="26" name="Badge 56"/>
          <p:cNvSpPr/>
          <p:nvPr/>
        </p:nvSpPr>
        <p:spPr>
          <a:xfrm>
            <a:off x="571500" y="1901952"/>
            <a:ext cx="329184" cy="32918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Aft>
                <a:spcPts val="0"/>
              </a:spcAft>
              <a:buNone/>
            </a:pPr>
            <a:r>
              <a:rPr sz="1200" b="1" i="0">
                <a:solidFill>
                  <a:schemeClr val="bg1"/>
                </a:solidFill>
                <a:latin typeface="Arial"/>
              </a:rPr>
              <a:t>1</a:t>
            </a:r>
          </a:p>
        </p:txBody>
      </p:sp>
      <p:sp>
        <p:nvSpPr>
          <p:cNvPr id="27" name="Text 57"/>
          <p:cNvSpPr txBox="1"/>
          <p:nvPr/>
        </p:nvSpPr>
        <p:spPr>
          <a:xfrm>
            <a:off x="1010412" y="1883664"/>
            <a:ext cx="4818888" cy="365760"/>
          </a:xfrm>
          <a:prstGeom prst="rect">
            <a:avLst/>
          </a:prstGeom>
          <a:noFill/>
        </p:spPr>
        <p:txBody>
          <a:bodyPr wrap="square" anchor="ctr" lIns="0" rIns="0" tIns="0" bIns="0">
            <a:spAutoFit/>
          </a:bodyPr>
          <a:lstStyle/>
          <a:p>
            <a:pPr algn="l" marL="0" indent="0">
              <a:spcAft>
                <a:spcPts val="0"/>
              </a:spcAft>
              <a:buNone/>
            </a:pPr>
            <a:r>
              <a:rPr sz="1400" b="1" i="0">
                <a:solidFill>
                  <a:schemeClr val="tx2"/>
                </a:solidFill>
                <a:latin typeface="Arial"/>
              </a:rPr>
              <a:t>Sunflower → Protein Rich Flour: TEST-FIRST</a:t>
            </a:r>
          </a:p>
        </p:txBody>
      </p:sp>
      <p:pic>
        <p:nvPicPr>
          <p:cNvPr id="28" name="Screenshot 58" descr="Sunflower → Protein Rich Flour: TEST-FIRST"/>
          <p:cNvPicPr>
            <a:picLocks noChangeAspect="1"/>
          </p:cNvPicPr>
          <p:nvPr/>
        </p:nvPicPr>
        <p:blipFill>
          <a:blip r:embed="rId3"/>
          <a:stretch>
            <a:fillRect/>
          </a:stretch>
        </p:blipFill>
        <p:spPr>
          <a:xfrm>
            <a:off x="658702" y="2359152"/>
            <a:ext cx="5101682" cy="2286000"/>
          </a:xfrm>
          <a:prstGeom prst="rect">
            <a:avLst/>
          </a:prstGeom>
          <a:ln w="12700">
            <a:solidFill>
              <a:schemeClr val="accent4"/>
            </a:solidFill>
          </a:ln>
        </p:spPr>
      </p:pic>
      <p:sp>
        <p:nvSpPr>
          <p:cNvPr id="29" name="Badge 59"/>
          <p:cNvSpPr/>
          <p:nvPr/>
        </p:nvSpPr>
        <p:spPr>
          <a:xfrm>
            <a:off x="6112764" y="1901952"/>
            <a:ext cx="329184" cy="32918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Aft>
                <a:spcPts val="0"/>
              </a:spcAft>
              <a:buNone/>
            </a:pPr>
            <a:r>
              <a:rPr sz="1200" b="1" i="0">
                <a:solidFill>
                  <a:schemeClr val="bg1"/>
                </a:solidFill>
                <a:latin typeface="Arial"/>
              </a:rPr>
              <a:t>2</a:t>
            </a:r>
          </a:p>
        </p:txBody>
      </p:sp>
      <p:sp>
        <p:nvSpPr>
          <p:cNvPr id="30" name="Text 60"/>
          <p:cNvSpPr txBox="1"/>
          <p:nvPr/>
        </p:nvSpPr>
        <p:spPr>
          <a:xfrm>
            <a:off x="6551675" y="1883664"/>
            <a:ext cx="4818888" cy="365760"/>
          </a:xfrm>
          <a:prstGeom prst="rect">
            <a:avLst/>
          </a:prstGeom>
          <a:noFill/>
        </p:spPr>
        <p:txBody>
          <a:bodyPr wrap="square" anchor="ctr" lIns="0" rIns="0" tIns="0" bIns="0">
            <a:spAutoFit/>
          </a:bodyPr>
          <a:lstStyle/>
          <a:p>
            <a:pPr algn="l" marL="0" indent="0">
              <a:spcAft>
                <a:spcPts val="0"/>
              </a:spcAft>
              <a:buNone/>
            </a:pPr>
            <a:r>
              <a:rPr sz="1400" b="1" i="0">
                <a:solidFill>
                  <a:schemeClr val="tx2"/>
                </a:solidFill>
                <a:latin typeface="Arial"/>
              </a:rPr>
              <a:t>One lab result (lead 1.6 mg/kg) turns it into NO-GO</a:t>
            </a:r>
          </a:p>
        </p:txBody>
      </p:sp>
      <p:pic>
        <p:nvPicPr>
          <p:cNvPr id="31" name="Screenshot 61" descr="One lab result (lead 1.6 mg/kg) turns it into NO-GO"/>
          <p:cNvPicPr>
            <a:picLocks noChangeAspect="1"/>
          </p:cNvPicPr>
          <p:nvPr/>
        </p:nvPicPr>
        <p:blipFill>
          <a:blip r:embed="rId4"/>
          <a:stretch>
            <a:fillRect/>
          </a:stretch>
        </p:blipFill>
        <p:spPr>
          <a:xfrm>
            <a:off x="6427851" y="2359152"/>
            <a:ext cx="4645912" cy="2286000"/>
          </a:xfrm>
          <a:prstGeom prst="rect">
            <a:avLst/>
          </a:prstGeom>
          <a:ln w="12700">
            <a:solidFill>
              <a:schemeClr val="accent4"/>
            </a:solidFill>
          </a:ln>
        </p:spPr>
      </p:pic>
      <p:sp>
        <p:nvSpPr>
          <p:cNvPr id="32" name="Card 62"/>
          <p:cNvSpPr/>
          <p:nvPr/>
        </p:nvSpPr>
        <p:spPr>
          <a:xfrm>
            <a:off x="571500" y="4828032"/>
            <a:ext cx="3429000" cy="96012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 63"/>
          <p:cNvSpPr txBox="1"/>
          <p:nvPr/>
        </p:nvSpPr>
        <p:spPr>
          <a:xfrm>
            <a:off x="754380" y="4892040"/>
            <a:ext cx="3063240" cy="868680"/>
          </a:xfrm>
          <a:prstGeom prst="rect">
            <a:avLst/>
          </a:prstGeom>
          <a:noFill/>
        </p:spPr>
        <p:txBody>
          <a:bodyPr wrap="square" anchor="t" lIns="0" rIns="0" tIns="0" bIns="0">
            <a:spAutoFit/>
          </a:bodyPr>
          <a:lstStyle/>
          <a:p>
            <a:pPr algn="l" marL="0" indent="0">
              <a:spcAft>
                <a:spcPts val="200"/>
              </a:spcAft>
              <a:buNone/>
            </a:pPr>
            <a:r>
              <a:rPr sz="1300" b="1" i="0">
                <a:solidFill>
                  <a:schemeClr val="tx2"/>
                </a:solidFill>
                <a:latin typeface="Arial"/>
              </a:rPr>
              <a:t>Run a preset</a:t>
            </a:r>
          </a:p>
          <a:p>
            <a:pPr algn="l" marL="0" indent="0">
              <a:spcAft>
                <a:spcPts val="0"/>
              </a:spcAft>
              <a:buNone/>
            </a:pPr>
            <a:r>
              <a:rPr sz="1150" b="0" i="0">
                <a:solidFill>
                  <a:schemeClr val="tx2"/>
                </a:solidFill>
                <a:latin typeface="Arial"/>
              </a:rPr>
              <a:t>7 contaminant checks unmeasured, so no bars are drawn and nothing is invented</a:t>
            </a:r>
          </a:p>
        </p:txBody>
      </p:sp>
      <p:sp>
        <p:nvSpPr>
          <p:cNvPr id="34" name="Card 64"/>
          <p:cNvSpPr/>
          <p:nvPr/>
        </p:nvSpPr>
        <p:spPr>
          <a:xfrm>
            <a:off x="4265676" y="4828032"/>
            <a:ext cx="3429000" cy="96012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65"/>
          <p:cNvSpPr txBox="1"/>
          <p:nvPr/>
        </p:nvSpPr>
        <p:spPr>
          <a:xfrm>
            <a:off x="4448556" y="4892040"/>
            <a:ext cx="3063240" cy="868680"/>
          </a:xfrm>
          <a:prstGeom prst="rect">
            <a:avLst/>
          </a:prstGeom>
          <a:noFill/>
        </p:spPr>
        <p:txBody>
          <a:bodyPr wrap="square" anchor="t" lIns="0" rIns="0" tIns="0" bIns="0">
            <a:spAutoFit/>
          </a:bodyPr>
          <a:lstStyle/>
          <a:p>
            <a:pPr algn="l" marL="0" indent="0">
              <a:spcAft>
                <a:spcPts val="200"/>
              </a:spcAft>
              <a:buNone/>
            </a:pPr>
            <a:r>
              <a:rPr sz="1300" b="1" i="0">
                <a:solidFill>
                  <a:schemeClr val="tx2"/>
                </a:solidFill>
                <a:latin typeface="Arial"/>
              </a:rPr>
              <a:t>Read the evidence</a:t>
            </a:r>
          </a:p>
          <a:p>
            <a:pPr algn="l" marL="0" indent="0">
              <a:spcAft>
                <a:spcPts val="0"/>
              </a:spcAft>
              <a:buNone/>
            </a:pPr>
            <a:r>
              <a:rPr sz="1150" b="0" i="0">
                <a:solidFill>
                  <a:schemeClr val="tx2"/>
                </a:solidFill>
                <a:latin typeface="Arial"/>
              </a:rPr>
              <a:t>8 functional properties vs the pea study; pea lands ≈ ₹518/kg protein; our cost stays 'not calculable'</a:t>
            </a:r>
          </a:p>
        </p:txBody>
      </p:sp>
      <p:sp>
        <p:nvSpPr>
          <p:cNvPr id="36" name="Card 66"/>
          <p:cNvSpPr/>
          <p:nvPr/>
        </p:nvSpPr>
        <p:spPr>
          <a:xfrm>
            <a:off x="7959852" y="4828032"/>
            <a:ext cx="3429000" cy="96012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 67"/>
          <p:cNvSpPr txBox="1"/>
          <p:nvPr/>
        </p:nvSpPr>
        <p:spPr>
          <a:xfrm>
            <a:off x="8142731" y="4892040"/>
            <a:ext cx="3063240" cy="868680"/>
          </a:xfrm>
          <a:prstGeom prst="rect">
            <a:avLst/>
          </a:prstGeom>
          <a:noFill/>
        </p:spPr>
        <p:txBody>
          <a:bodyPr wrap="square" anchor="t" lIns="0" rIns="0" tIns="0" bIns="0">
            <a:spAutoFit/>
          </a:bodyPr>
          <a:lstStyle/>
          <a:p>
            <a:pPr algn="l" marL="0" indent="0">
              <a:spcAft>
                <a:spcPts val="200"/>
              </a:spcAft>
              <a:buNone/>
            </a:pPr>
            <a:r>
              <a:rPr sz="1300" b="1" i="0">
                <a:solidFill>
                  <a:schemeClr val="tx2"/>
                </a:solidFill>
                <a:latin typeface="Arial"/>
              </a:rPr>
              <a:t>Enter a lab result</a:t>
            </a:r>
          </a:p>
          <a:p>
            <a:pPr algn="l" marL="0" indent="0">
              <a:spcAft>
                <a:spcPts val="0"/>
              </a:spcAft>
              <a:buNone/>
            </a:pPr>
            <a:r>
              <a:rPr sz="1150" b="0" i="0">
                <a:solidFill>
                  <a:schemeClr val="tx2"/>
                </a:solidFill>
                <a:latin typeface="Arial"/>
              </a:rPr>
              <a:t>Lead 1.6 mg/kg (limit 1.0) → NO-GO, before and after; 0.4 keeps TEST-FIRST</a:t>
            </a:r>
          </a:p>
        </p:txBody>
      </p:sp>
      <p:sp>
        <p:nvSpPr>
          <p:cNvPr id="38" name="Text 68"/>
          <p:cNvSpPr txBox="1"/>
          <p:nvPr/>
        </p:nvSpPr>
        <p:spPr>
          <a:xfrm>
            <a:off x="571500" y="5897880"/>
            <a:ext cx="10817352" cy="292608"/>
          </a:xfrm>
          <a:prstGeom prst="rect">
            <a:avLst/>
          </a:prstGeom>
          <a:noFill/>
        </p:spPr>
        <p:txBody>
          <a:bodyPr wrap="square" anchor="t" lIns="0" rIns="0" tIns="0" bIns="0">
            <a:spAutoFit/>
          </a:bodyPr>
          <a:lstStyle/>
          <a:p>
            <a:pPr algn="l" marL="0" indent="0">
              <a:spcAft>
                <a:spcPts val="600"/>
              </a:spcAft>
              <a:buNone/>
            </a:pPr>
            <a:r>
              <a:rPr sz="1100" b="0" i="1">
                <a:solidFill>
                  <a:schemeClr val="accent5"/>
                </a:solidFill>
                <a:latin typeface="Arial"/>
              </a:rPr>
              <a:t>Real screenshots from the running prototype (engine 0.8.0), not mock-ups. Live demo on the team laptop; stamped offline snapshots if Wi-Fi fails. Demo video: [attach the ≤ 2-minute video here].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71500" y="1016000"/>
            <a:ext cx="9525000" cy="825500"/>
          </a:xfrm>
          <a:prstGeom prst="rect">
            <a:avLst/>
          </a:prstGeom>
          <a:noFill/>
          <a:ln/>
        </p:spPr>
        <p:txBody>
          <a:bodyPr wrap="square" lIns="0" tIns="0" rIns="0" bIns="0" rtlCol="0" anchor="ctr"/>
          <a:lstStyle/>
          <a:p>
            <a:pPr marL="0" indent="0" algn="l">
              <a:buNone/>
            </a:pPr>
            <a:r>
              <a:rPr lang="en-US" sz="4200" b="1" dirty="0">
                <a:solidFill>
                  <a:schemeClr val="tx2"/>
                </a:solidFill>
                <a:latin typeface="Arial" pitchFamily="34" charset="0"/>
                <a:ea typeface="Arial" pitchFamily="34" charset="-122"/>
                <a:cs typeface="Arial" pitchFamily="34" charset="-120"/>
              </a:rPr>
              <a:t>Data and Assumptions</a:t>
            </a:r>
            <a:endParaRPr lang="en-US" sz="4200" dirty="0"/>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1B1464"/>
                </a:solidFill>
                <a:latin typeface="Arial"/>
                <a:ea typeface="Arial"/>
                <a:cs typeface="Arial"/>
              </a:defRPr>
            </a:lvl1pPr>
          </a:lstStyle>
          <a:p>
            <a:pPr algn="r"/>
            <a:fld id="{F7021451-1387-4CA6-816F-3879F97B5CBC}" type="slidenum">
              <a:rPr lang="en-US" b="0"/>
              <a:t>6</a:t>
            </a:fld>
            <a:endParaRPr lang="en-US"/>
          </a:p>
        </p:txBody>
      </p:sp>
      <p:graphicFrame>
        <p:nvGraphicFramePr>
          <p:cNvPr id="26" name="Sources table 69"/>
          <p:cNvGraphicFramePr>
            <a:graphicFrameLocks noGrp="1"/>
          </p:cNvGraphicFramePr>
          <p:nvPr/>
        </p:nvGraphicFramePr>
        <p:xfrm>
          <a:off x="571500" y="1920240"/>
          <a:ext cx="6446520" cy="4251960"/>
        </p:xfrm>
        <a:graphic>
          <a:graphicData uri="http://schemas.openxmlformats.org/drawingml/2006/table">
            <a:tbl>
              <a:tblPr firstRow="1" bandRow="0">
                <a:tableStyleId>{5C22544A-7EE6-4342-B048-85BDC9FD1C3A}</a:tableStyleId>
              </a:tblPr>
              <a:tblGrid>
                <a:gridCol w="4343400"/>
                <a:gridCol w="2103120"/>
              </a:tblGrid>
              <a:tr h="425196">
                <a:tc>
                  <a:txBody>
                    <a:bodyPr/>
                    <a:lstStyle/>
                    <a:p>
                      <a:pPr algn="l" marL="0" indent="0">
                        <a:spcAft>
                          <a:spcPts val="0"/>
                        </a:spcAft>
                        <a:buNone/>
                      </a:pPr>
                      <a:r>
                        <a:rPr sz="1200" b="1" i="0">
                          <a:solidFill>
                            <a:schemeClr val="bg1"/>
                          </a:solidFill>
                          <a:latin typeface="Arial"/>
                        </a:rPr>
                        <a:t>Source</a:t>
                      </a:r>
                    </a:p>
                  </a:txBody>
                  <a:tcPr marL="73152" marR="73152" marT="27432" marB="27432" anchor="ctr">
                    <a:solidFill>
                      <a:schemeClr val="tx2"/>
                    </a:solidFill>
                  </a:tcPr>
                </a:tc>
                <a:tc>
                  <a:txBody>
                    <a:bodyPr/>
                    <a:lstStyle/>
                    <a:p>
                      <a:pPr algn="l" marL="0" indent="0">
                        <a:spcAft>
                          <a:spcPts val="0"/>
                        </a:spcAft>
                        <a:buNone/>
                      </a:pPr>
                      <a:r>
                        <a:rPr sz="1200" b="1" i="0">
                          <a:solidFill>
                            <a:schemeClr val="bg1"/>
                          </a:solidFill>
                          <a:latin typeface="Arial"/>
                        </a:rPr>
                        <a:t>Label</a:t>
                      </a:r>
                    </a:p>
                  </a:txBody>
                  <a:tcPr marL="73152" marR="73152" marT="27432" marB="27432" anchor="ctr">
                    <a:solidFill>
                      <a:schemeClr val="tx2"/>
                    </a:solidFill>
                  </a:tcPr>
                </a:tc>
              </a:tr>
              <a:tr h="425196">
                <a:tc>
                  <a:txBody>
                    <a:bodyPr/>
                    <a:lstStyle/>
                    <a:p>
                      <a:pPr algn="l" marL="0" indent="0">
                        <a:spcAft>
                          <a:spcPts val="0"/>
                        </a:spcAft>
                        <a:buNone/>
                      </a:pPr>
                      <a:r>
                        <a:rPr sz="1150" b="0" i="0">
                          <a:solidFill>
                            <a:schemeClr val="tx2"/>
                          </a:solidFill>
                          <a:latin typeface="Arial"/>
                        </a:rPr>
                        <a:t>Team final oilseed-cake review (composition, treatments, functionality)</a:t>
                      </a:r>
                    </a:p>
                  </a:txBody>
                  <a:tcPr marL="73152" marR="73152" marT="27432" marB="27432" anchor="ctr">
                    <a:solidFill>
                      <a:schemeClr val="bg1"/>
                    </a:solidFill>
                  </a:tcPr>
                </a:tc>
                <a:tc>
                  <a:txBody>
                    <a:bodyPr/>
                    <a:lstStyle/>
                    <a:p>
                      <a:pPr algn="l" marL="0" indent="0">
                        <a:spcAft>
                          <a:spcPts val="0"/>
                        </a:spcAft>
                        <a:buNone/>
                      </a:pPr>
                      <a:r>
                        <a:rPr sz="1150" b="0" i="0">
                          <a:solidFill>
                            <a:schemeClr val="tx2"/>
                          </a:solidFill>
                          <a:latin typeface="Arial"/>
                        </a:rPr>
                        <a:t>Published · 30 values, 40 rows</a:t>
                      </a:r>
                    </a:p>
                  </a:txBody>
                  <a:tcPr marL="73152" marR="73152" marT="27432" marB="27432" anchor="ctr">
                    <a:solidFill>
                      <a:schemeClr val="bg1"/>
                    </a:solidFill>
                  </a:tcPr>
                </a:tc>
              </a:tr>
              <a:tr h="425196">
                <a:tc>
                  <a:txBody>
                    <a:bodyPr/>
                    <a:lstStyle/>
                    <a:p>
                      <a:pPr algn="l" marL="0" indent="0">
                        <a:spcAft>
                          <a:spcPts val="0"/>
                        </a:spcAft>
                        <a:buNone/>
                      </a:pPr>
                      <a:r>
                        <a:rPr sz="1150" b="0" i="0">
                          <a:solidFill>
                            <a:schemeClr val="tx2"/>
                          </a:solidFill>
                          <a:latin typeface="Arial"/>
                        </a:rPr>
                        <a:t>Qi et al. 2025, pea protein isolate (80.2% protein)</a:t>
                      </a:r>
                    </a:p>
                  </a:txBody>
                  <a:tcPr marL="73152" marR="73152" marT="27432" marB="27432" anchor="ctr">
                    <a:solidFill>
                      <a:schemeClr val="bg2"/>
                    </a:solidFill>
                  </a:tcPr>
                </a:tc>
                <a:tc>
                  <a:txBody>
                    <a:bodyPr/>
                    <a:lstStyle/>
                    <a:p>
                      <a:pPr algn="l" marL="0" indent="0">
                        <a:spcAft>
                          <a:spcPts val="0"/>
                        </a:spcAft>
                        <a:buNone/>
                      </a:pPr>
                      <a:r>
                        <a:rPr sz="1150" b="0" i="0">
                          <a:solidFill>
                            <a:schemeClr val="tx2"/>
                          </a:solidFill>
                          <a:latin typeface="Arial"/>
                        </a:rPr>
                        <a:t>Published · reference</a:t>
                      </a:r>
                    </a:p>
                  </a:txBody>
                  <a:tcPr marL="73152" marR="73152" marT="27432" marB="27432" anchor="ctr">
                    <a:solidFill>
                      <a:schemeClr val="bg2"/>
                    </a:solidFill>
                  </a:tcPr>
                </a:tc>
              </a:tr>
              <a:tr h="425196">
                <a:tc>
                  <a:txBody>
                    <a:bodyPr/>
                    <a:lstStyle/>
                    <a:p>
                      <a:pPr algn="l" marL="0" indent="0">
                        <a:spcAft>
                          <a:spcPts val="0"/>
                        </a:spcAft>
                        <a:buNone/>
                      </a:pPr>
                      <a:r>
                        <a:rPr sz="1150" b="0" i="0">
                          <a:solidFill>
                            <a:schemeClr val="tx2"/>
                          </a:solidFill>
                          <a:latin typeface="Arial"/>
                        </a:rPr>
                        <a:t>Murugeswari 2023, aflatoxin B1 survey (118 groundnut-cake samples)</a:t>
                      </a:r>
                    </a:p>
                  </a:txBody>
                  <a:tcPr marL="73152" marR="73152" marT="27432" marB="27432" anchor="ctr">
                    <a:solidFill>
                      <a:schemeClr val="bg1"/>
                    </a:solidFill>
                  </a:tcPr>
                </a:tc>
                <a:tc>
                  <a:txBody>
                    <a:bodyPr/>
                    <a:lstStyle/>
                    <a:p>
                      <a:pPr algn="l" marL="0" indent="0">
                        <a:spcAft>
                          <a:spcPts val="0"/>
                        </a:spcAft>
                        <a:buNone/>
                      </a:pPr>
                      <a:r>
                        <a:rPr sz="1150" b="0" i="0">
                          <a:solidFill>
                            <a:schemeClr val="tx2"/>
                          </a:solidFill>
                          <a:latin typeface="Arial"/>
                        </a:rPr>
                        <a:t>Published</a:t>
                      </a:r>
                    </a:p>
                  </a:txBody>
                  <a:tcPr marL="73152" marR="73152" marT="27432" marB="27432" anchor="ctr">
                    <a:solidFill>
                      <a:schemeClr val="bg1"/>
                    </a:solidFill>
                  </a:tcPr>
                </a:tc>
              </a:tr>
              <a:tr h="425196">
                <a:tc>
                  <a:txBody>
                    <a:bodyPr/>
                    <a:lstStyle/>
                    <a:p>
                      <a:pPr algn="l" marL="0" indent="0">
                        <a:spcAft>
                          <a:spcPts val="0"/>
                        </a:spcAft>
                        <a:buNone/>
                      </a:pPr>
                      <a:r>
                        <a:rPr sz="1150" b="0" i="0">
                          <a:solidFill>
                            <a:schemeClr val="tx2"/>
                          </a:solidFill>
                          <a:latin typeface="Arial"/>
                        </a:rPr>
                        <a:t>Pea isolate prices (Tridge, IndiaMART), USD/INR, HS 3504 tariff</a:t>
                      </a:r>
                    </a:p>
                  </a:txBody>
                  <a:tcPr marL="73152" marR="73152" marT="27432" marB="27432" anchor="ctr">
                    <a:solidFill>
                      <a:schemeClr val="bg2"/>
                    </a:solidFill>
                  </a:tcPr>
                </a:tc>
                <a:tc>
                  <a:txBody>
                    <a:bodyPr/>
                    <a:lstStyle/>
                    <a:p>
                      <a:pPr algn="l" marL="0" indent="0">
                        <a:spcAft>
                          <a:spcPts val="0"/>
                        </a:spcAft>
                        <a:buNone/>
                      </a:pPr>
                      <a:r>
                        <a:rPr sz="1150" b="0" i="0">
                          <a:solidFill>
                            <a:schemeClr val="tx2"/>
                          </a:solidFill>
                          <a:latin typeface="Arial"/>
                        </a:rPr>
                        <a:t>Published · ranges</a:t>
                      </a:r>
                    </a:p>
                  </a:txBody>
                  <a:tcPr marL="73152" marR="73152" marT="27432" marB="27432" anchor="ctr">
                    <a:solidFill>
                      <a:schemeClr val="bg2"/>
                    </a:solidFill>
                  </a:tcPr>
                </a:tc>
              </a:tr>
              <a:tr h="425196">
                <a:tc>
                  <a:txBody>
                    <a:bodyPr/>
                    <a:lstStyle/>
                    <a:p>
                      <a:pPr algn="l" marL="0" indent="0">
                        <a:spcAft>
                          <a:spcPts val="0"/>
                        </a:spcAft>
                        <a:buNone/>
                      </a:pPr>
                      <a:r>
                        <a:rPr sz="1150" b="0" i="0">
                          <a:solidFill>
                            <a:schemeClr val="tx2"/>
                          </a:solidFill>
                          <a:latin typeface="Arial"/>
                        </a:rPr>
                        <a:t>Project contaminant limits (7 analytes)</a:t>
                      </a:r>
                    </a:p>
                  </a:txBody>
                  <a:tcPr marL="73152" marR="73152" marT="27432" marB="27432" anchor="ctr">
                    <a:solidFill>
                      <a:schemeClr val="bg1"/>
                    </a:solidFill>
                  </a:tcPr>
                </a:tc>
                <a:tc>
                  <a:txBody>
                    <a:bodyPr/>
                    <a:lstStyle/>
                    <a:p>
                      <a:pPr algn="l" marL="0" indent="0">
                        <a:spcAft>
                          <a:spcPts val="0"/>
                        </a:spcAft>
                        <a:buNone/>
                      </a:pPr>
                      <a:r>
                        <a:rPr sz="1150" b="0" i="0">
                          <a:solidFill>
                            <a:schemeClr val="tx2"/>
                          </a:solidFill>
                          <a:latin typeface="Arial"/>
                        </a:rPr>
                        <a:t>Assumed · internal settings</a:t>
                      </a:r>
                    </a:p>
                  </a:txBody>
                  <a:tcPr marL="73152" marR="73152" marT="27432" marB="27432" anchor="ctr">
                    <a:solidFill>
                      <a:schemeClr val="bg1"/>
                    </a:solidFill>
                  </a:tcPr>
                </a:tc>
              </a:tr>
              <a:tr h="425196">
                <a:tc>
                  <a:txBody>
                    <a:bodyPr/>
                    <a:lstStyle/>
                    <a:p>
                      <a:pPr algn="l" marL="0" indent="0">
                        <a:spcAft>
                          <a:spcPts val="0"/>
                        </a:spcAft>
                        <a:buNone/>
                      </a:pPr>
                      <a:r>
                        <a:rPr sz="1150" b="0" i="0">
                          <a:solidFill>
                            <a:schemeClr val="tx2"/>
                          </a:solidFill>
                          <a:latin typeface="Arial"/>
                        </a:rPr>
                        <a:t>Freight, duty mode and price scenarios</a:t>
                      </a:r>
                    </a:p>
                  </a:txBody>
                  <a:tcPr marL="73152" marR="73152" marT="27432" marB="27432" anchor="ctr">
                    <a:solidFill>
                      <a:schemeClr val="bg2"/>
                    </a:solidFill>
                  </a:tcPr>
                </a:tc>
                <a:tc>
                  <a:txBody>
                    <a:bodyPr/>
                    <a:lstStyle/>
                    <a:p>
                      <a:pPr algn="l" marL="0" indent="0">
                        <a:spcAft>
                          <a:spcPts val="0"/>
                        </a:spcAft>
                        <a:buNone/>
                      </a:pPr>
                      <a:r>
                        <a:rPr sz="1150" b="0" i="0">
                          <a:solidFill>
                            <a:schemeClr val="tx2"/>
                          </a:solidFill>
                          <a:latin typeface="Arial"/>
                        </a:rPr>
                        <a:t>Assumed · scenario switches</a:t>
                      </a:r>
                    </a:p>
                  </a:txBody>
                  <a:tcPr marL="73152" marR="73152" marT="27432" marB="27432" anchor="ctr">
                    <a:solidFill>
                      <a:schemeClr val="bg2"/>
                    </a:solidFill>
                  </a:tcPr>
                </a:tc>
              </a:tr>
              <a:tr h="425196">
                <a:tc>
                  <a:txBody>
                    <a:bodyPr/>
                    <a:lstStyle/>
                    <a:p>
                      <a:pPr algn="l" marL="0" indent="0">
                        <a:spcAft>
                          <a:spcPts val="0"/>
                        </a:spcAft>
                        <a:buNone/>
                      </a:pPr>
                      <a:r>
                        <a:rPr sz="1150" b="0" i="0">
                          <a:solidFill>
                            <a:schemeClr val="tx2"/>
                          </a:solidFill>
                          <a:latin typeface="Arial"/>
                        </a:rPr>
                        <a:t>Batch and lab results entered by the user</a:t>
                      </a:r>
                    </a:p>
                  </a:txBody>
                  <a:tcPr marL="73152" marR="73152" marT="27432" marB="27432" anchor="ctr">
                    <a:solidFill>
                      <a:schemeClr val="bg1"/>
                    </a:solidFill>
                  </a:tcPr>
                </a:tc>
                <a:tc>
                  <a:txBody>
                    <a:bodyPr/>
                    <a:lstStyle/>
                    <a:p>
                      <a:pPr algn="l" marL="0" indent="0">
                        <a:spcAft>
                          <a:spcPts val="0"/>
                        </a:spcAft>
                        <a:buNone/>
                      </a:pPr>
                      <a:r>
                        <a:rPr sz="1150" b="0" i="0">
                          <a:solidFill>
                            <a:schemeClr val="tx2"/>
                          </a:solidFill>
                          <a:latin typeface="Arial"/>
                        </a:rPr>
                        <a:t>Measured · none in presets yet</a:t>
                      </a:r>
                    </a:p>
                  </a:txBody>
                  <a:tcPr marL="73152" marR="73152" marT="27432" marB="27432" anchor="ctr">
                    <a:solidFill>
                      <a:schemeClr val="bg1"/>
                    </a:solidFill>
                  </a:tcPr>
                </a:tc>
              </a:tr>
              <a:tr h="425196">
                <a:tc>
                  <a:txBody>
                    <a:bodyPr/>
                    <a:lstStyle/>
                    <a:p>
                      <a:pPr algn="l" marL="0" indent="0">
                        <a:spcAft>
                          <a:spcPts val="0"/>
                        </a:spcAft>
                        <a:buNone/>
                      </a:pPr>
                      <a:r>
                        <a:rPr sz="1150" b="0" i="0">
                          <a:solidFill>
                            <a:schemeClr val="tx2"/>
                          </a:solidFill>
                          <a:latin typeface="Arial"/>
                        </a:rPr>
                        <a:t>Demo and test values</a:t>
                      </a:r>
                    </a:p>
                  </a:txBody>
                  <a:tcPr marL="73152" marR="73152" marT="27432" marB="27432" anchor="ctr">
                    <a:solidFill>
                      <a:schemeClr val="bg2"/>
                    </a:solidFill>
                  </a:tcPr>
                </a:tc>
                <a:tc>
                  <a:txBody>
                    <a:bodyPr/>
                    <a:lstStyle/>
                    <a:p>
                      <a:pPr algn="l" marL="0" indent="0">
                        <a:spcAft>
                          <a:spcPts val="0"/>
                        </a:spcAft>
                        <a:buNone/>
                      </a:pPr>
                      <a:r>
                        <a:rPr sz="1150" b="0" i="0">
                          <a:solidFill>
                            <a:schemeClr val="tx2"/>
                          </a:solidFill>
                          <a:latin typeface="Arial"/>
                        </a:rPr>
                        <a:t>Synthetic · cannot clear a gate</a:t>
                      </a:r>
                    </a:p>
                  </a:txBody>
                  <a:tcPr marL="73152" marR="73152" marT="27432" marB="27432" anchor="ctr">
                    <a:solidFill>
                      <a:schemeClr val="bg2"/>
                    </a:solidFill>
                  </a:tcPr>
                </a:tc>
              </a:tr>
              <a:tr h="425196">
                <a:tc>
                  <a:txBody>
                    <a:bodyPr/>
                    <a:lstStyle/>
                    <a:p>
                      <a:pPr algn="l" marL="0" indent="0">
                        <a:spcAft>
                          <a:spcPts val="0"/>
                        </a:spcAft>
                        <a:buNone/>
                      </a:pPr>
                      <a:r>
                        <a:rPr sz="1150" b="0" i="0">
                          <a:solidFill>
                            <a:schemeClr val="tx2"/>
                          </a:solidFill>
                          <a:latin typeface="Arial"/>
                        </a:rPr>
                        <a:t>Organiser datasets: FAOSTAT, IFCT 2017, USDA FDC, FooDB, Open Food Facts, AGMARKNET, data.gov.in</a:t>
                      </a:r>
                    </a:p>
                  </a:txBody>
                  <a:tcPr marL="73152" marR="73152" marT="27432" marB="27432" anchor="ctr">
                    <a:solidFill>
                      <a:schemeClr val="bg1"/>
                    </a:solidFill>
                  </a:tcPr>
                </a:tc>
                <a:tc>
                  <a:txBody>
                    <a:bodyPr/>
                    <a:lstStyle/>
                    <a:p>
                      <a:pPr algn="l" marL="0" indent="0">
                        <a:spcAft>
                          <a:spcPts val="0"/>
                        </a:spcAft>
                        <a:buNone/>
                      </a:pPr>
                      <a:r>
                        <a:rPr sz="1150" b="0" i="0">
                          <a:solidFill>
                            <a:schemeClr val="tx2"/>
                          </a:solidFill>
                          <a:latin typeface="Arial"/>
                        </a:rPr>
                        <a:t>Listed · no values drawn yet</a:t>
                      </a:r>
                    </a:p>
                  </a:txBody>
                  <a:tcPr marL="73152" marR="73152" marT="27432" marB="27432" anchor="ctr">
                    <a:solidFill>
                      <a:schemeClr val="bg1"/>
                    </a:solidFill>
                  </a:tcPr>
                </a:tc>
              </a:tr>
            </a:tbl>
          </a:graphicData>
        </a:graphic>
      </p:graphicFrame>
      <p:sp>
        <p:nvSpPr>
          <p:cNvPr id="27" name="Card 70"/>
          <p:cNvSpPr/>
          <p:nvPr/>
        </p:nvSpPr>
        <p:spPr>
          <a:xfrm>
            <a:off x="7269480" y="1920240"/>
            <a:ext cx="4114800" cy="132588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71"/>
          <p:cNvSpPr txBox="1"/>
          <p:nvPr/>
        </p:nvSpPr>
        <p:spPr>
          <a:xfrm>
            <a:off x="7434072" y="1993392"/>
            <a:ext cx="3794760" cy="1207008"/>
          </a:xfrm>
          <a:prstGeom prst="rect">
            <a:avLst/>
          </a:prstGeom>
          <a:noFill/>
        </p:spPr>
        <p:txBody>
          <a:bodyPr wrap="square" anchor="t" lIns="0" rIns="0" tIns="0" bIns="0">
            <a:spAutoFit/>
          </a:bodyPr>
          <a:lstStyle/>
          <a:p>
            <a:pPr algn="l" marL="0" indent="0">
              <a:spcAft>
                <a:spcPts val="200"/>
              </a:spcAft>
              <a:buNone/>
            </a:pPr>
            <a:r>
              <a:rPr sz="1300" b="1" i="0">
                <a:solidFill>
                  <a:schemeClr val="tx2"/>
                </a:solidFill>
                <a:latin typeface="Arial"/>
              </a:rPr>
              <a:t>Key results</a:t>
            </a:r>
          </a:p>
          <a:p>
            <a:pPr algn="l" marL="132715" indent="-132715">
              <a:spcAft>
                <a:spcPts val="100"/>
              </a:spcAft>
              <a:buSzPct val="100000"/>
              <a:buChar char="•"/>
            </a:pPr>
            <a:r>
              <a:rPr sz="1100" b="0" i="0">
                <a:solidFill>
                  <a:schemeClr val="tx2"/>
                </a:solidFill>
                <a:latin typeface="Arial"/>
              </a:rPr>
              <a:t>Sunflower → Protein Rich Flour: TEST-FIRST, 9 candidate routes</a:t>
            </a:r>
          </a:p>
          <a:p>
            <a:pPr algn="l" marL="132715" indent="-132715">
              <a:spcAft>
                <a:spcPts val="100"/>
              </a:spcAft>
              <a:buSzPct val="100000"/>
              <a:buChar char="•"/>
            </a:pPr>
            <a:r>
              <a:rPr sz="1100" b="0" i="0">
                <a:solidFill>
                  <a:schemeClr val="tx2"/>
                </a:solidFill>
                <a:latin typeface="Arial"/>
              </a:rPr>
              <a:t>Pea isolate landed ≈ ₹518/kg protein (₹431–619)</a:t>
            </a:r>
          </a:p>
          <a:p>
            <a:pPr algn="l" marL="132715" indent="-132715">
              <a:spcAft>
                <a:spcPts val="100"/>
              </a:spcAft>
              <a:buSzPct val="100000"/>
              <a:buChar char="•"/>
            </a:pPr>
            <a:r>
              <a:rPr sz="1100" b="0" i="0">
                <a:solidFill>
                  <a:schemeClr val="tx2"/>
                </a:solidFill>
                <a:latin typeface="Arial"/>
              </a:rPr>
              <a:t>Lead 1.6 mg/kg → NO-GO</a:t>
            </a:r>
          </a:p>
        </p:txBody>
      </p:sp>
      <p:sp>
        <p:nvSpPr>
          <p:cNvPr id="29" name="Card 72"/>
          <p:cNvSpPr/>
          <p:nvPr/>
        </p:nvSpPr>
        <p:spPr>
          <a:xfrm>
            <a:off x="7269480" y="3383280"/>
            <a:ext cx="4114800" cy="132588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73"/>
          <p:cNvSpPr txBox="1"/>
          <p:nvPr/>
        </p:nvSpPr>
        <p:spPr>
          <a:xfrm>
            <a:off x="7434072" y="3456432"/>
            <a:ext cx="3794760" cy="1207008"/>
          </a:xfrm>
          <a:prstGeom prst="rect">
            <a:avLst/>
          </a:prstGeom>
          <a:noFill/>
        </p:spPr>
        <p:txBody>
          <a:bodyPr wrap="square" anchor="t" lIns="0" rIns="0" tIns="0" bIns="0">
            <a:spAutoFit/>
          </a:bodyPr>
          <a:lstStyle/>
          <a:p>
            <a:pPr algn="l" marL="0" indent="0">
              <a:spcAft>
                <a:spcPts val="200"/>
              </a:spcAft>
              <a:buNone/>
            </a:pPr>
            <a:r>
              <a:rPr sz="1300" b="1" i="0">
                <a:solidFill>
                  <a:schemeClr val="tx2"/>
                </a:solidFill>
                <a:latin typeface="Arial"/>
              </a:rPr>
              <a:t>Limits of our data</a:t>
            </a:r>
          </a:p>
          <a:p>
            <a:pPr algn="l" marL="132715" indent="-132715">
              <a:spcAft>
                <a:spcPts val="100"/>
              </a:spcAft>
              <a:buSzPct val="100000"/>
              <a:buChar char="•"/>
            </a:pPr>
            <a:r>
              <a:rPr sz="1100" b="0" i="0">
                <a:solidFill>
                  <a:schemeClr val="tx2"/>
                </a:solidFill>
                <a:latin typeface="Arial"/>
              </a:rPr>
              <a:t>Ledger: 161 missing, 41 assumed, 37 to verify</a:t>
            </a:r>
          </a:p>
          <a:p>
            <a:pPr algn="l" marL="132715" indent="-132715">
              <a:spcAft>
                <a:spcPts val="100"/>
              </a:spcAft>
              <a:buSzPct val="100000"/>
              <a:buChar char="•"/>
            </a:pPr>
            <a:r>
              <a:rPr sz="1100" b="0" i="0">
                <a:solidFill>
                  <a:schemeClr val="tx2"/>
                </a:solidFill>
                <a:latin typeface="Arial"/>
              </a:rPr>
              <a:t>Many values are review-reported (secondary)</a:t>
            </a:r>
          </a:p>
          <a:p>
            <a:pPr algn="l" marL="132715" indent="-132715">
              <a:spcAft>
                <a:spcPts val="100"/>
              </a:spcAft>
              <a:buSzPct val="100000"/>
              <a:buChar char="•"/>
            </a:pPr>
            <a:r>
              <a:rPr sz="1100" b="0" i="0">
                <a:solidFill>
                  <a:schemeClr val="tx2"/>
                </a:solidFill>
                <a:latin typeface="Arial"/>
              </a:rPr>
              <a:t>PhD proximate report withheld pending permission</a:t>
            </a:r>
          </a:p>
        </p:txBody>
      </p:sp>
      <p:sp>
        <p:nvSpPr>
          <p:cNvPr id="31" name="Card 74"/>
          <p:cNvSpPr/>
          <p:nvPr/>
        </p:nvSpPr>
        <p:spPr>
          <a:xfrm>
            <a:off x="7269480" y="4846320"/>
            <a:ext cx="4114800" cy="132588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75"/>
          <p:cNvSpPr txBox="1"/>
          <p:nvPr/>
        </p:nvSpPr>
        <p:spPr>
          <a:xfrm>
            <a:off x="7434072" y="4919472"/>
            <a:ext cx="3794760" cy="1207008"/>
          </a:xfrm>
          <a:prstGeom prst="rect">
            <a:avLst/>
          </a:prstGeom>
          <a:noFill/>
        </p:spPr>
        <p:txBody>
          <a:bodyPr wrap="square" anchor="t" lIns="0" rIns="0" tIns="0" bIns="0">
            <a:spAutoFit/>
          </a:bodyPr>
          <a:lstStyle/>
          <a:p>
            <a:pPr algn="l" marL="0" indent="0">
              <a:spcAft>
                <a:spcPts val="200"/>
              </a:spcAft>
              <a:buNone/>
            </a:pPr>
            <a:r>
              <a:rPr sz="1300" b="1" i="0">
                <a:solidFill>
                  <a:schemeClr val="tx2"/>
                </a:solidFill>
                <a:latin typeface="Arial"/>
              </a:rPr>
              <a:t>Error and uncertainty</a:t>
            </a:r>
          </a:p>
          <a:p>
            <a:pPr algn="l" marL="132715" indent="-132715">
              <a:spcAft>
                <a:spcPts val="100"/>
              </a:spcAft>
              <a:buSzPct val="100000"/>
              <a:buChar char="•"/>
            </a:pPr>
            <a:r>
              <a:rPr sz="1100" b="0" i="0">
                <a:solidFill>
                  <a:schemeClr val="tx2"/>
                </a:solidFill>
                <a:latin typeface="Arial"/>
              </a:rPr>
              <a:t>Inputs carry P10–P90 ranges</a:t>
            </a:r>
          </a:p>
          <a:p>
            <a:pPr algn="l" marL="132715" indent="-132715">
              <a:spcAft>
                <a:spcPts val="100"/>
              </a:spcAft>
              <a:buSzPct val="100000"/>
              <a:buChar char="•"/>
            </a:pPr>
            <a:r>
              <a:rPr sz="1100" b="0" i="0">
                <a:solidFill>
                  <a:schemeClr val="tx2"/>
                </a:solidFill>
                <a:latin typeface="Arial"/>
              </a:rPr>
              <a:t>P(GO), P(spec) and value of information withheld until calibrated</a:t>
            </a:r>
          </a:p>
          <a:p>
            <a:pPr algn="l" marL="132715" indent="-132715">
              <a:spcAft>
                <a:spcPts val="100"/>
              </a:spcAft>
              <a:buSzPct val="100000"/>
              <a:buChar char="•"/>
            </a:pPr>
            <a:r>
              <a:rPr sz="1100" b="0" i="0">
                <a:solidFill>
                  <a:schemeClr val="tx2"/>
                </a:solidFill>
                <a:latin typeface="Arial"/>
              </a:rPr>
              <a:t>Missing yield → cost 'not calculable', never guessed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71500" y="1016000"/>
            <a:ext cx="9525000" cy="825500"/>
          </a:xfrm>
          <a:prstGeom prst="rect">
            <a:avLst/>
          </a:prstGeom>
          <a:noFill/>
          <a:ln/>
        </p:spPr>
        <p:txBody>
          <a:bodyPr wrap="square" lIns="0" tIns="0" rIns="0" bIns="0" rtlCol="0" anchor="ctr"/>
          <a:lstStyle/>
          <a:p>
            <a:pPr marL="0" indent="0" algn="l">
              <a:buNone/>
            </a:pPr>
            <a:r>
              <a:rPr lang="en-US" sz="4200" b="1" dirty="0">
                <a:solidFill>
                  <a:schemeClr val="tx2"/>
                </a:solidFill>
                <a:latin typeface="Arial" pitchFamily="34" charset="0"/>
                <a:ea typeface="Arial" pitchFamily="34" charset="-122"/>
                <a:cs typeface="Arial" pitchFamily="34" charset="-120"/>
              </a:rPr>
              <a:t>Projected Impact</a:t>
            </a:r>
            <a:endParaRPr lang="en-US" sz="2000" b="0" dirty="0"/>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1B1464"/>
                </a:solidFill>
                <a:latin typeface="Arial"/>
                <a:ea typeface="Arial"/>
                <a:cs typeface="Arial"/>
              </a:defRPr>
            </a:lvl1pPr>
          </a:lstStyle>
          <a:p>
            <a:pPr algn="r"/>
            <a:fld id="{F7021451-1387-4CA6-816F-3879F97B5CBC}" type="slidenum">
              <a:rPr lang="en-US" b="0"/>
              <a:t>7</a:t>
            </a:fld>
            <a:endParaRPr lang="en-US"/>
          </a:p>
        </p:txBody>
      </p:sp>
      <p:graphicFrame>
        <p:nvGraphicFramePr>
          <p:cNvPr id="26" name="Pea scenario chart 76"/>
          <p:cNvGraphicFramePr>
            <a:graphicFrameLocks noGrp="1"/>
          </p:cNvGraphicFramePr>
          <p:nvPr/>
        </p:nvGraphicFramePr>
        <p:xfrm>
          <a:off x="571500" y="1920240"/>
          <a:ext cx="5669280" cy="3429000"/>
        </p:xfrm>
        <a:graphic>
          <a:graphicData uri="http://schemas.openxmlformats.org/drawingml/2006/chart">
            <c:chart xmlns:c="http://schemas.openxmlformats.org/drawingml/2006/chart" r:id="rId3"/>
          </a:graphicData>
        </a:graphic>
      </p:graphicFrame>
      <p:sp>
        <p:nvSpPr>
          <p:cNvPr id="27" name="Text 77"/>
          <p:cNvSpPr txBox="1"/>
          <p:nvPr/>
        </p:nvSpPr>
        <p:spPr>
          <a:xfrm>
            <a:off x="571500" y="5394960"/>
            <a:ext cx="5669280" cy="457200"/>
          </a:xfrm>
          <a:prstGeom prst="rect">
            <a:avLst/>
          </a:prstGeom>
          <a:noFill/>
        </p:spPr>
        <p:txBody>
          <a:bodyPr wrap="square" anchor="t" lIns="0" rIns="0" tIns="0" bIns="0">
            <a:spAutoFit/>
          </a:bodyPr>
          <a:lstStyle/>
          <a:p>
            <a:pPr algn="l" marL="0" indent="0">
              <a:spcAft>
                <a:spcPts val="600"/>
              </a:spcAft>
              <a:buNone/>
            </a:pPr>
            <a:r>
              <a:rPr sz="1100" b="0" i="1">
                <a:solidFill>
                  <a:schemeClr val="accent5"/>
                </a:solidFill>
                <a:latin typeface="Arial"/>
              </a:rPr>
              <a:t>The bar a local oilseed protein must beat. Scenario model (tagged assumed, grade D) from Tridge prices, USD/INR and the HS 3504 duty.</a:t>
            </a:r>
          </a:p>
        </p:txBody>
      </p:sp>
      <p:sp>
        <p:nvSpPr>
          <p:cNvPr id="28" name="Badge 78"/>
          <p:cNvSpPr/>
          <p:nvPr/>
        </p:nvSpPr>
        <p:spPr>
          <a:xfrm>
            <a:off x="6583680" y="1965960"/>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Aft>
                <a:spcPts val="0"/>
              </a:spcAft>
              <a:buNone/>
            </a:pPr>
            <a:r>
              <a:rPr sz="1300" b="1" i="0">
                <a:solidFill>
                  <a:schemeClr val="bg1"/>
                </a:solidFill>
                <a:latin typeface="Arial"/>
              </a:rPr>
              <a:t>1</a:t>
            </a:r>
          </a:p>
        </p:txBody>
      </p:sp>
      <p:sp>
        <p:nvSpPr>
          <p:cNvPr id="29" name="Text 79"/>
          <p:cNvSpPr txBox="1"/>
          <p:nvPr/>
        </p:nvSpPr>
        <p:spPr>
          <a:xfrm>
            <a:off x="7086600" y="1920240"/>
            <a:ext cx="4297680" cy="914400"/>
          </a:xfrm>
          <a:prstGeom prst="rect">
            <a:avLst/>
          </a:prstGeom>
          <a:noFill/>
        </p:spPr>
        <p:txBody>
          <a:bodyPr wrap="square" anchor="t" lIns="0" rIns="0" tIns="0" bIns="0">
            <a:spAutoFit/>
          </a:bodyPr>
          <a:lstStyle/>
          <a:p>
            <a:pPr algn="l" marL="0" indent="0">
              <a:spcAft>
                <a:spcPts val="200"/>
              </a:spcAft>
              <a:buNone/>
            </a:pPr>
            <a:r>
              <a:rPr sz="1400" b="1" i="0">
                <a:solidFill>
                  <a:schemeClr val="tx2"/>
                </a:solidFill>
                <a:latin typeface="Arial"/>
              </a:rPr>
              <a:t>Aims to replace</a:t>
            </a:r>
          </a:p>
          <a:p>
            <a:pPr algn="l" marL="0" indent="0">
              <a:spcAft>
                <a:spcPts val="0"/>
              </a:spcAft>
              <a:buNone/>
            </a:pPr>
            <a:r>
              <a:rPr sz="1250" b="0" i="0">
                <a:solidFill>
                  <a:schemeClr val="tx2"/>
                </a:solidFill>
                <a:latin typeface="Arial"/>
              </a:rPr>
              <a:t>Part of the ~90% imported plant protein in Indian products, starting with flour- and concentrate-tier uses</a:t>
            </a:r>
          </a:p>
        </p:txBody>
      </p:sp>
      <p:sp>
        <p:nvSpPr>
          <p:cNvPr id="30" name="Badge 80"/>
          <p:cNvSpPr/>
          <p:nvPr/>
        </p:nvSpPr>
        <p:spPr>
          <a:xfrm>
            <a:off x="6583680" y="2953512"/>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Aft>
                <a:spcPts val="0"/>
              </a:spcAft>
              <a:buNone/>
            </a:pPr>
            <a:r>
              <a:rPr sz="1300" b="1" i="0">
                <a:solidFill>
                  <a:schemeClr val="bg1"/>
                </a:solidFill>
                <a:latin typeface="Arial"/>
              </a:rPr>
              <a:t>2</a:t>
            </a:r>
          </a:p>
        </p:txBody>
      </p:sp>
      <p:sp>
        <p:nvSpPr>
          <p:cNvPr id="31" name="Text 81"/>
          <p:cNvSpPr txBox="1"/>
          <p:nvPr/>
        </p:nvSpPr>
        <p:spPr>
          <a:xfrm>
            <a:off x="7086600" y="2907792"/>
            <a:ext cx="4297680" cy="914400"/>
          </a:xfrm>
          <a:prstGeom prst="rect">
            <a:avLst/>
          </a:prstGeom>
          <a:noFill/>
        </p:spPr>
        <p:txBody>
          <a:bodyPr wrap="square" anchor="t" lIns="0" rIns="0" tIns="0" bIns="0">
            <a:spAutoFit/>
          </a:bodyPr>
          <a:lstStyle/>
          <a:p>
            <a:pPr algn="l" marL="0" indent="0">
              <a:spcAft>
                <a:spcPts val="200"/>
              </a:spcAft>
              <a:buNone/>
            </a:pPr>
            <a:r>
              <a:rPr sz="1400" b="1" i="0">
                <a:solidFill>
                  <a:schemeClr val="tx2"/>
                </a:solidFill>
                <a:latin typeface="Arial"/>
              </a:rPr>
              <a:t>Optimises</a:t>
            </a:r>
          </a:p>
          <a:p>
            <a:pPr algn="l" marL="0" indent="0">
              <a:spcAft>
                <a:spcPts val="0"/>
              </a:spcAft>
              <a:buNone/>
            </a:pPr>
            <a:r>
              <a:rPr sz="1250" b="0" i="0">
                <a:solidFill>
                  <a:schemeClr val="tx2"/>
                </a:solidFill>
                <a:latin typeface="Arial"/>
              </a:rPr>
              <a:t>The testing order: safety assays first, so failing lots are diverted before money goes into trials</a:t>
            </a:r>
          </a:p>
        </p:txBody>
      </p:sp>
      <p:sp>
        <p:nvSpPr>
          <p:cNvPr id="32" name="Badge 82"/>
          <p:cNvSpPr/>
          <p:nvPr/>
        </p:nvSpPr>
        <p:spPr>
          <a:xfrm>
            <a:off x="6583680" y="3941063"/>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Aft>
                <a:spcPts val="0"/>
              </a:spcAft>
              <a:buNone/>
            </a:pPr>
            <a:r>
              <a:rPr sz="1300" b="1" i="0">
                <a:solidFill>
                  <a:schemeClr val="bg1"/>
                </a:solidFill>
                <a:latin typeface="Arial"/>
              </a:rPr>
              <a:t>3</a:t>
            </a:r>
          </a:p>
        </p:txBody>
      </p:sp>
      <p:sp>
        <p:nvSpPr>
          <p:cNvPr id="33" name="Text 83"/>
          <p:cNvSpPr txBox="1"/>
          <p:nvPr/>
        </p:nvSpPr>
        <p:spPr>
          <a:xfrm>
            <a:off x="7086600" y="3895344"/>
            <a:ext cx="4297680" cy="914400"/>
          </a:xfrm>
          <a:prstGeom prst="rect">
            <a:avLst/>
          </a:prstGeom>
          <a:noFill/>
        </p:spPr>
        <p:txBody>
          <a:bodyPr wrap="square" anchor="t" lIns="0" rIns="0" tIns="0" bIns="0">
            <a:spAutoFit/>
          </a:bodyPr>
          <a:lstStyle/>
          <a:p>
            <a:pPr algn="l" marL="0" indent="0">
              <a:spcAft>
                <a:spcPts val="200"/>
              </a:spcAft>
              <a:buNone/>
            </a:pPr>
            <a:r>
              <a:rPr sz="1400" b="1" i="0">
                <a:solidFill>
                  <a:schemeClr val="tx2"/>
                </a:solidFill>
                <a:latin typeface="Arial"/>
              </a:rPr>
              <a:t>Market</a:t>
            </a:r>
          </a:p>
          <a:p>
            <a:pPr algn="l" marL="0" indent="0">
              <a:spcAft>
                <a:spcPts val="0"/>
              </a:spcAft>
              <a:buNone/>
            </a:pPr>
            <a:r>
              <a:rPr sz="1250" b="0" i="0">
                <a:solidFill>
                  <a:schemeClr val="tx2"/>
                </a:solidFill>
                <a:latin typeface="Arial"/>
              </a:rPr>
              <a:t>Plant-protein ingredient market expected to grow from ₹4,500 to ₹9,000 crore in five years (PBFIA)</a:t>
            </a:r>
          </a:p>
        </p:txBody>
      </p:sp>
      <p:sp>
        <p:nvSpPr>
          <p:cNvPr id="34" name="Badge 84"/>
          <p:cNvSpPr/>
          <p:nvPr/>
        </p:nvSpPr>
        <p:spPr>
          <a:xfrm>
            <a:off x="6583680" y="4928616"/>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marL="0" indent="0">
              <a:spcAft>
                <a:spcPts val="0"/>
              </a:spcAft>
              <a:buNone/>
            </a:pPr>
            <a:r>
              <a:rPr sz="1300" b="1" i="0">
                <a:solidFill>
                  <a:schemeClr val="bg1"/>
                </a:solidFill>
                <a:latin typeface="Arial"/>
              </a:rPr>
              <a:t>4</a:t>
            </a:r>
          </a:p>
        </p:txBody>
      </p:sp>
      <p:sp>
        <p:nvSpPr>
          <p:cNvPr id="35" name="Text 85"/>
          <p:cNvSpPr txBox="1"/>
          <p:nvPr/>
        </p:nvSpPr>
        <p:spPr>
          <a:xfrm>
            <a:off x="7086600" y="4882896"/>
            <a:ext cx="4297680" cy="914400"/>
          </a:xfrm>
          <a:prstGeom prst="rect">
            <a:avLst/>
          </a:prstGeom>
          <a:noFill/>
        </p:spPr>
        <p:txBody>
          <a:bodyPr wrap="square" anchor="t" lIns="0" rIns="0" tIns="0" bIns="0">
            <a:spAutoFit/>
          </a:bodyPr>
          <a:lstStyle/>
          <a:p>
            <a:pPr algn="l" marL="0" indent="0">
              <a:spcAft>
                <a:spcPts val="200"/>
              </a:spcAft>
              <a:buNone/>
            </a:pPr>
            <a:r>
              <a:rPr sz="1400" b="1" i="0">
                <a:solidFill>
                  <a:schemeClr val="tx2"/>
                </a:solidFill>
                <a:latin typeface="Arial"/>
              </a:rPr>
              <a:t>No new harm</a:t>
            </a:r>
          </a:p>
          <a:p>
            <a:pPr algn="l" marL="0" indent="0">
              <a:spcAft>
                <a:spcPts val="0"/>
              </a:spcAft>
              <a:buNone/>
            </a:pPr>
            <a:r>
              <a:rPr sz="1250" b="0" i="0">
                <a:solidFill>
                  <a:schemeClr val="tx2"/>
                </a:solidFill>
                <a:latin typeface="Arial"/>
              </a:rPr>
              <a:t>Only measured values clear safety gates; failed lots stay in the feed chain</a:t>
            </a:r>
          </a:p>
        </p:txBody>
      </p:sp>
      <p:sp>
        <p:nvSpPr>
          <p:cNvPr id="36" name="Card 86"/>
          <p:cNvSpPr/>
          <p:nvPr/>
        </p:nvSpPr>
        <p:spPr>
          <a:xfrm>
            <a:off x="571500" y="5870448"/>
            <a:ext cx="10817352" cy="384048"/>
          </a:xfrm>
          <a:prstGeom prst="roundRect">
            <a:avLst>
              <a:gd name="adj" fmla="val 2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 87"/>
          <p:cNvSpPr txBox="1"/>
          <p:nvPr/>
        </p:nvSpPr>
        <p:spPr>
          <a:xfrm>
            <a:off x="754380" y="5870448"/>
            <a:ext cx="10451592" cy="384048"/>
          </a:xfrm>
          <a:prstGeom prst="rect">
            <a:avLst/>
          </a:prstGeom>
          <a:noFill/>
        </p:spPr>
        <p:txBody>
          <a:bodyPr wrap="square" anchor="ctr" lIns="0" rIns="0" tIns="0" bIns="0">
            <a:spAutoFit/>
          </a:bodyPr>
          <a:lstStyle/>
          <a:p>
            <a:pPr algn="l" marL="0" indent="0">
              <a:spcAft>
                <a:spcPts val="0"/>
              </a:spcAft>
              <a:buNone/>
            </a:pPr>
            <a:r>
              <a:rPr sz="1250" b="1" i="0">
                <a:solidFill>
                  <a:schemeClr val="tx2"/>
                </a:solidFill>
                <a:latin typeface="Arial"/>
              </a:rPr>
              <a:t>Projection, not a result: </a:t>
            </a:r>
            <a:r>
              <a:rPr sz="1250" b="0" i="0">
                <a:solidFill>
                  <a:schemeClr val="tx2"/>
                </a:solidFill>
                <a:latin typeface="Arial"/>
              </a:rPr>
              <a:t>no cost saving is claimed until yield and process costs are measured in the pilot.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71500" y="1016000"/>
            <a:ext cx="9525000" cy="825500"/>
          </a:xfrm>
          <a:prstGeom prst="rect">
            <a:avLst/>
          </a:prstGeom>
          <a:noFill/>
          <a:ln/>
        </p:spPr>
        <p:txBody>
          <a:bodyPr wrap="square" lIns="0" tIns="0" rIns="0" bIns="0" rtlCol="0" anchor="ctr"/>
          <a:lstStyle/>
          <a:p>
            <a:pPr marL="0" indent="0" algn="l">
              <a:buNone/>
            </a:pPr>
            <a:r>
              <a:rPr lang="en-US" sz="4200" b="1" dirty="0">
                <a:solidFill>
                  <a:schemeClr val="tx2"/>
                </a:solidFill>
                <a:latin typeface="Arial" pitchFamily="34" charset="0"/>
                <a:ea typeface="Arial" pitchFamily="34" charset="-122"/>
                <a:cs typeface="Arial" pitchFamily="34" charset="-120"/>
              </a:rPr>
              <a:t>Limitations and Next Steps</a:t>
            </a:r>
            <a:endParaRPr lang="en-US" sz="4200" dirty="0"/>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1B1464"/>
                </a:solidFill>
                <a:latin typeface="Arial"/>
                <a:ea typeface="Arial"/>
                <a:cs typeface="Arial"/>
              </a:defRPr>
            </a:lvl1pPr>
          </a:lstStyle>
          <a:p>
            <a:pPr algn="r"/>
            <a:fld id="{F7021451-1387-4CA6-816F-3879F97B5CBC}" type="slidenum">
              <a:rPr lang="en-US" b="0"/>
              <a:t>8</a:t>
            </a:fld>
            <a:endParaRPr lang="en-US"/>
          </a:p>
        </p:txBody>
      </p:sp>
      <p:sp>
        <p:nvSpPr>
          <p:cNvPr id="26" name="Text 88"/>
          <p:cNvSpPr txBox="1"/>
          <p:nvPr/>
        </p:nvSpPr>
        <p:spPr>
          <a:xfrm>
            <a:off x="571500" y="1920240"/>
            <a:ext cx="5440680" cy="4297680"/>
          </a:xfrm>
          <a:prstGeom prst="rect">
            <a:avLst/>
          </a:prstGeom>
          <a:noFill/>
        </p:spPr>
        <p:txBody>
          <a:bodyPr wrap="square" anchor="t" lIns="0" rIns="0" tIns="0" bIns="0">
            <a:spAutoFit/>
          </a:bodyPr>
          <a:lstStyle/>
          <a:p>
            <a:pPr algn="l" marL="0" indent="0">
              <a:spcAft>
                <a:spcPts val="600"/>
              </a:spcAft>
              <a:buNone/>
            </a:pPr>
            <a:r>
              <a:rPr sz="1600" b="1" i="0">
                <a:solidFill>
                  <a:schemeClr val="tx2"/>
                </a:solidFill>
                <a:latin typeface="Arial"/>
              </a:rPr>
              <a:t>What the prototype cannot do yet</a:t>
            </a:r>
          </a:p>
          <a:p>
            <a:pPr algn="l" marL="168910" indent="-168910">
              <a:spcAft>
                <a:spcPts val="500"/>
              </a:spcAft>
              <a:buSzPct val="100000"/>
              <a:buChar char="•"/>
            </a:pPr>
            <a:r>
              <a:rPr sz="1400" b="0" i="0">
                <a:solidFill>
                  <a:schemeClr val="tx2"/>
                </a:solidFill>
                <a:latin typeface="Arial"/>
              </a:rPr>
              <a:t>Predict yield, protein recovery or our own ₹/kg protein: no measured process data yet</a:t>
            </a:r>
          </a:p>
          <a:p>
            <a:pPr algn="l" marL="168910" indent="-168910">
              <a:spcAft>
                <a:spcPts val="500"/>
              </a:spcAft>
              <a:buSzPct val="100000"/>
              <a:buChar char="•"/>
            </a:pPr>
            <a:r>
              <a:rPr sz="1400" b="0" i="0">
                <a:solidFill>
                  <a:schemeClr val="tx2"/>
                </a:solidFill>
                <a:latin typeface="Arial"/>
              </a:rPr>
              <a:t>Give calibrated probabilities (P(GO), P(spec)) or value of information</a:t>
            </a:r>
          </a:p>
          <a:p>
            <a:pPr algn="l" marL="168910" indent="-168910">
              <a:spcAft>
                <a:spcPts val="500"/>
              </a:spcAft>
              <a:buSzPct val="100000"/>
              <a:buChar char="•"/>
            </a:pPr>
            <a:r>
              <a:rPr sz="1400" b="0" i="0">
                <a:solidFill>
                  <a:schemeClr val="tx2"/>
                </a:solidFill>
                <a:latin typeface="Arial"/>
              </a:rPr>
              <a:t>Approve food safety or regulation: limits are project settings to be reviewed</a:t>
            </a:r>
          </a:p>
          <a:p>
            <a:pPr algn="l" marL="168910" indent="-168910">
              <a:spcAft>
                <a:spcPts val="500"/>
              </a:spcAft>
              <a:buSzPct val="100000"/>
              <a:buChar char="•"/>
            </a:pPr>
            <a:r>
              <a:rPr sz="1400" b="0" i="0">
                <a:solidFill>
                  <a:schemeClr val="tx2"/>
                </a:solidFill>
                <a:latin typeface="Arial"/>
              </a:rPr>
              <a:t>Draw on the organiser datasets yet; Hindi and voice need real-user review</a:t>
            </a:r>
          </a:p>
          <a:p>
            <a:pPr algn="l" marL="0" indent="0">
              <a:spcAft>
                <a:spcPts val="600"/>
              </a:spcAft>
              <a:buNone/>
            </a:pPr>
            <a:r>
              <a:rPr sz="1600" b="1" i="0">
                <a:solidFill>
                  <a:schemeClr val="tx2"/>
                </a:solidFill>
                <a:latin typeface="Arial"/>
              </a:rPr>
              <a:t>If the model is wrong</a:t>
            </a:r>
          </a:p>
          <a:p>
            <a:pPr algn="l" marL="168910" indent="-168910">
              <a:spcAft>
                <a:spcPts val="500"/>
              </a:spcAft>
              <a:buSzPct val="100000"/>
              <a:buChar char="•"/>
            </a:pPr>
            <a:r>
              <a:rPr sz="1400" b="0" i="0">
                <a:solidFill>
                  <a:schemeClr val="tx2"/>
                </a:solidFill>
                <a:latin typeface="Arial"/>
              </a:rPr>
              <a:t>Safety gates accept only measured values; assumed or synthetic data cannot clear them</a:t>
            </a:r>
          </a:p>
          <a:p>
            <a:pPr algn="l" marL="168910" indent="-168910">
              <a:spcAft>
                <a:spcPts val="500"/>
              </a:spcAft>
              <a:buSzPct val="100000"/>
              <a:buChar char="•"/>
            </a:pPr>
            <a:r>
              <a:rPr sz="1400" b="0" i="0">
                <a:solidFill>
                  <a:schemeClr val="tx2"/>
                </a:solidFill>
                <a:latin typeface="Arial"/>
              </a:rPr>
              <a:t>The LLM cannot change numbers; a fixed template is the fallback</a:t>
            </a:r>
          </a:p>
        </p:txBody>
      </p:sp>
      <p:sp>
        <p:nvSpPr>
          <p:cNvPr id="27" name="Card 89"/>
          <p:cNvSpPr/>
          <p:nvPr/>
        </p:nvSpPr>
        <p:spPr>
          <a:xfrm>
            <a:off x="6263640" y="1920240"/>
            <a:ext cx="5120640" cy="4297680"/>
          </a:xfrm>
          <a:prstGeom prst="roundRect">
            <a:avLst>
              <a:gd name="adj" fmla="val 4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90"/>
          <p:cNvSpPr txBox="1"/>
          <p:nvPr/>
        </p:nvSpPr>
        <p:spPr>
          <a:xfrm>
            <a:off x="6537960" y="2103120"/>
            <a:ext cx="4572000" cy="3977639"/>
          </a:xfrm>
          <a:prstGeom prst="rect">
            <a:avLst/>
          </a:prstGeom>
          <a:noFill/>
        </p:spPr>
        <p:txBody>
          <a:bodyPr wrap="square" anchor="t" lIns="0" rIns="0" tIns="0" bIns="0">
            <a:spAutoFit/>
          </a:bodyPr>
          <a:lstStyle/>
          <a:p>
            <a:pPr algn="l" marL="0" indent="0">
              <a:spcAft>
                <a:spcPts val="800"/>
              </a:spcAft>
              <a:buNone/>
            </a:pPr>
            <a:r>
              <a:rPr sz="2000" b="1" i="0">
                <a:solidFill>
                  <a:schemeClr val="bg1"/>
                </a:solidFill>
                <a:latin typeface="Arial"/>
              </a:rPr>
              <a:t>The first test we will run</a:t>
            </a:r>
          </a:p>
          <a:p>
            <a:pPr algn="l" marL="0" indent="0">
              <a:spcAft>
                <a:spcPts val="600"/>
              </a:spcAft>
              <a:buNone/>
            </a:pPr>
            <a:r>
              <a:rPr sz="1500" b="1" i="0">
                <a:solidFill>
                  <a:schemeClr val="bg1"/>
                </a:solidFill>
                <a:latin typeface="Arial"/>
              </a:rPr>
              <a:t>3–5 lots of sunflower cake from food-grade mills:</a:t>
            </a:r>
          </a:p>
          <a:p>
            <a:pPr algn="l" marL="180975" indent="-180975">
              <a:spcAft>
                <a:spcPts val="500"/>
              </a:spcAft>
              <a:buSzPct val="100000"/>
              <a:buChar char="•"/>
            </a:pPr>
            <a:r>
              <a:rPr sz="1500" b="0" i="0">
                <a:solidFill>
                  <a:schemeClr val="bg1"/>
                </a:solidFill>
                <a:latin typeface="Arial"/>
              </a:rPr>
              <a:t>Aflatoxin B1 and total aflatoxins (HPLC)</a:t>
            </a:r>
          </a:p>
          <a:p>
            <a:pPr algn="l" marL="180975" indent="-180975">
              <a:spcAft>
                <a:spcPts val="500"/>
              </a:spcAft>
              <a:buSzPct val="100000"/>
              <a:buChar char="•"/>
            </a:pPr>
            <a:r>
              <a:rPr sz="1500" b="0" i="0">
                <a:solidFill>
                  <a:schemeClr val="bg1"/>
                </a:solidFill>
                <a:latin typeface="Arial"/>
              </a:rPr>
              <a:t>Lead, cadmium, arsenic and mercury (ICP-MS)</a:t>
            </a:r>
          </a:p>
          <a:p>
            <a:pPr algn="l" marL="180975" indent="-180975">
              <a:spcAft>
                <a:spcPts val="500"/>
              </a:spcAft>
              <a:buSzPct val="100000"/>
              <a:buChar char="•"/>
            </a:pPr>
            <a:r>
              <a:rPr sz="1500" b="0" i="0">
                <a:solidFill>
                  <a:schemeClr val="bg1"/>
                </a:solidFill>
                <a:latin typeface="Arial"/>
              </a:rPr>
              <a:t>Hexane residue, if any solvent route was used</a:t>
            </a:r>
          </a:p>
          <a:p>
            <a:pPr algn="l" marL="180975" indent="-180975">
              <a:spcAft>
                <a:spcPts val="500"/>
              </a:spcAft>
              <a:buSzPct val="100000"/>
              <a:buChar char="•"/>
            </a:pPr>
            <a:r>
              <a:rPr sz="1500" b="0" i="0">
                <a:solidFill>
                  <a:schemeClr val="bg1"/>
                </a:solidFill>
                <a:latin typeface="Arial"/>
              </a:rPr>
              <a:t>Measured ingredient yield and protein recovery</a:t>
            </a:r>
          </a:p>
          <a:p>
            <a:pPr algn="l" marL="0" indent="0">
              <a:spcAft>
                <a:spcPts val="0"/>
              </a:spcAft>
              <a:buNone/>
            </a:pPr>
            <a:r>
              <a:rPr sz="1400" b="0" i="0">
                <a:solidFill>
                  <a:schemeClr val="bg1"/>
                </a:solidFill>
                <a:latin typeface="Arial"/>
              </a:rPr>
              <a:t>Then check how often the measurements fall inside the engine's predicted ranges (calibration coverage).</a:t>
            </a:r>
          </a:p>
        </p:txBody>
      </p:sp>
      <p:sp>
        <p:nvSpPr>
          <p:cNvPr id="29" name="Card 91"/>
          <p:cNvSpPr/>
          <p:nvPr/>
        </p:nvSpPr>
        <p:spPr>
          <a:xfrm>
            <a:off x="6492240" y="4983480"/>
            <a:ext cx="4663440" cy="100584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92"/>
          <p:cNvSpPr txBox="1"/>
          <p:nvPr/>
        </p:nvSpPr>
        <p:spPr>
          <a:xfrm>
            <a:off x="6675120" y="4983480"/>
            <a:ext cx="4297680" cy="1005840"/>
          </a:xfrm>
          <a:prstGeom prst="rect">
            <a:avLst/>
          </a:prstGeom>
          <a:noFill/>
        </p:spPr>
        <p:txBody>
          <a:bodyPr wrap="square" anchor="ctr" lIns="0" rIns="0" tIns="0" bIns="0">
            <a:spAutoFit/>
          </a:bodyPr>
          <a:lstStyle/>
          <a:p>
            <a:pPr algn="l" marL="0" indent="0">
              <a:spcAft>
                <a:spcPts val="0"/>
              </a:spcAft>
              <a:buNone/>
            </a:pPr>
            <a:r>
              <a:rPr sz="1400" b="1" i="0">
                <a:solidFill>
                  <a:schemeClr val="tx2"/>
                </a:solidFill>
                <a:latin typeface="Arial"/>
              </a:rPr>
              <a:t>What we need: </a:t>
            </a:r>
            <a:r>
              <a:rPr sz="1400" b="0" i="0">
                <a:solidFill>
                  <a:schemeClr val="tx2"/>
                </a:solidFill>
                <a:latin typeface="Arial"/>
              </a:rPr>
              <a:t>a food-grade oil mill, an accredited (NABL) lab and a brand to test samples.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71500" y="1016000"/>
            <a:ext cx="9525000" cy="825500"/>
          </a:xfrm>
          <a:prstGeom prst="rect">
            <a:avLst/>
          </a:prstGeom>
          <a:noFill/>
          <a:ln/>
        </p:spPr>
        <p:txBody>
          <a:bodyPr wrap="square" lIns="0" tIns="0" rIns="0" bIns="0" rtlCol="0" anchor="ctr"/>
          <a:lstStyle/>
          <a:p>
            <a:pPr marL="0" indent="0" algn="l">
              <a:buNone/>
            </a:pPr>
            <a:r>
              <a:rPr lang="en-US" sz="4200" b="1" dirty="0">
                <a:solidFill>
                  <a:schemeClr val="tx2"/>
                </a:solidFill>
                <a:latin typeface="Arial" pitchFamily="34" charset="0"/>
                <a:ea typeface="Arial" pitchFamily="34" charset="-122"/>
                <a:cs typeface="Arial" pitchFamily="34" charset="-120"/>
              </a:rPr>
              <a:t>References (1/2)</a:t>
            </a:r>
            <a:endParaRPr lang="en-US" sz="4200" dirty="0"/>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1B1464"/>
                </a:solidFill>
                <a:latin typeface="Arial"/>
                <a:ea typeface="Arial"/>
                <a:cs typeface="Arial"/>
              </a:defRPr>
            </a:lvl1pPr>
          </a:lstStyle>
          <a:p>
            <a:pPr algn="r"/>
            <a:fld id="{F7021451-1387-4CA6-816F-3879F97B5CBC}" type="slidenum">
              <a:rPr lang="en-US" b="0"/>
              <a:t>9</a:t>
            </a:fld>
            <a:endParaRPr lang="en-US"/>
          </a:p>
        </p:txBody>
      </p:sp>
      <p:sp>
        <p:nvSpPr>
          <p:cNvPr id="26" name="Text 93"/>
          <p:cNvSpPr txBox="1"/>
          <p:nvPr/>
        </p:nvSpPr>
        <p:spPr>
          <a:xfrm>
            <a:off x="571500" y="1874519"/>
            <a:ext cx="5225796" cy="4343400"/>
          </a:xfrm>
          <a:prstGeom prst="rect">
            <a:avLst/>
          </a:prstGeom>
          <a:noFill/>
        </p:spPr>
        <p:txBody>
          <a:bodyPr wrap="square" anchor="t" lIns="0" rIns="0" tIns="0" bIns="0">
            <a:spAutoFit/>
          </a:bodyPr>
          <a:lstStyle/>
          <a:p>
            <a:pPr algn="l" marL="0" indent="0">
              <a:spcAft>
                <a:spcPts val="300"/>
              </a:spcAft>
              <a:buNone/>
            </a:pPr>
            <a:r>
              <a:rPr sz="1200" b="1" i="0">
                <a:solidFill>
                  <a:schemeClr val="tx2"/>
                </a:solidFill>
                <a:latin typeface="Arial"/>
              </a:rPr>
              <a:t>Team documents (unpublished; cited, not shared)</a:t>
            </a:r>
          </a:p>
          <a:p>
            <a:pPr algn="l" marL="126682" indent="-126682">
              <a:spcAft>
                <a:spcPts val="300"/>
              </a:spcAft>
              <a:buSzPct val="100000"/>
              <a:buChar char="•"/>
            </a:pPr>
            <a:r>
              <a:rPr sz="1050" b="0" i="0">
                <a:solidFill>
                  <a:schemeClr val="tx2"/>
                </a:solidFill>
                <a:latin typeface="Arial"/>
              </a:rPr>
              <a:t>Team review, cold-pressed oilseed cakes (final draft)</a:t>
            </a:r>
            <a:r>
              <a:rPr sz="1050" b="0" i="0">
                <a:solidFill>
                  <a:schemeClr val="accent5"/>
                </a:solidFill>
                <a:latin typeface="Arial"/>
              </a:rPr>
              <a:t>  [P · secondary]</a:t>
            </a:r>
          </a:p>
          <a:p>
            <a:pPr algn="l" marL="126682" indent="-126682">
              <a:spcAft>
                <a:spcPts val="300"/>
              </a:spcAft>
              <a:buSzPct val="100000"/>
              <a:buChar char="•"/>
            </a:pPr>
            <a:r>
              <a:rPr sz="1050" b="0" i="0">
                <a:solidFill>
                  <a:schemeClr val="tx2"/>
                </a:solidFill>
                <a:latin typeface="Arial"/>
              </a:rPr>
              <a:t>Team research plan, 5 Aug 2026</a:t>
            </a:r>
            <a:r>
              <a:rPr sz="1050" b="0" i="0">
                <a:solidFill>
                  <a:schemeClr val="accent5"/>
                </a:solidFill>
                <a:latin typeface="Arial"/>
              </a:rPr>
              <a:t>  [P]</a:t>
            </a:r>
          </a:p>
          <a:p>
            <a:pPr algn="l" marL="126682" indent="-126682">
              <a:spcAft>
                <a:spcPts val="300"/>
              </a:spcAft>
              <a:buSzPct val="100000"/>
              <a:buChar char="•"/>
            </a:pPr>
            <a:r>
              <a:rPr sz="1050" b="0" i="0">
                <a:solidFill>
                  <a:schemeClr val="tx2"/>
                </a:solidFill>
                <a:latin typeface="Arial"/>
              </a:rPr>
              <a:t>Team research evidence matrix, 25 Oct 2026 (75 records)</a:t>
            </a:r>
            <a:r>
              <a:rPr sz="1050" b="0" i="0">
                <a:solidFill>
                  <a:schemeClr val="accent5"/>
                </a:solidFill>
                <a:latin typeface="Arial"/>
              </a:rPr>
              <a:t>  [cited]</a:t>
            </a:r>
          </a:p>
          <a:p>
            <a:pPr algn="l" marL="126682" indent="-126682">
              <a:spcAft>
                <a:spcPts val="300"/>
              </a:spcAft>
              <a:buSzPct val="100000"/>
              <a:buChar char="•"/>
            </a:pPr>
            <a:r>
              <a:rPr sz="1050" b="0" i="0">
                <a:solidFill>
                  <a:schemeClr val="tx2"/>
                </a:solidFill>
                <a:latin typeface="Arial"/>
              </a:rPr>
              <a:t>Project contaminant acceptance limits, 24 Oct 2026</a:t>
            </a:r>
            <a:r>
              <a:rPr sz="1050" b="0" i="0">
                <a:solidFill>
                  <a:schemeClr val="accent5"/>
                </a:solidFill>
                <a:latin typeface="Arial"/>
              </a:rPr>
              <a:t>  [A]</a:t>
            </a:r>
          </a:p>
          <a:p>
            <a:pPr algn="l" marL="126682" indent="-126682">
              <a:spcAft>
                <a:spcPts val="1000"/>
              </a:spcAft>
              <a:buSzPct val="100000"/>
              <a:buChar char="•"/>
            </a:pPr>
            <a:r>
              <a:rPr sz="1050" b="0" i="0">
                <a:solidFill>
                  <a:schemeClr val="tx2"/>
                </a:solidFill>
                <a:latin typeface="Arial"/>
              </a:rPr>
              <a:t>R. O. Mathur, PhD progress report (LoR, proximate)</a:t>
            </a:r>
            <a:r>
              <a:rPr sz="1050" b="0" i="0">
                <a:solidFill>
                  <a:schemeClr val="accent5"/>
                </a:solidFill>
                <a:latin typeface="Arial"/>
              </a:rPr>
              <a:t>  [withheld]</a:t>
            </a:r>
          </a:p>
          <a:p>
            <a:pPr algn="l" marL="0" indent="0">
              <a:spcAft>
                <a:spcPts val="300"/>
              </a:spcAft>
              <a:buNone/>
            </a:pPr>
            <a:r>
              <a:rPr sz="1200" b="1" i="0">
                <a:solidFill>
                  <a:schemeClr val="tx2"/>
                </a:solidFill>
                <a:latin typeface="Arial"/>
              </a:rPr>
              <a:t>Papers and reviews</a:t>
            </a:r>
          </a:p>
          <a:p>
            <a:pPr algn="l" marL="126682" indent="-126682">
              <a:spcAft>
                <a:spcPts val="300"/>
              </a:spcAft>
              <a:buSzPct val="100000"/>
              <a:buChar char="•"/>
            </a:pPr>
            <a:r>
              <a:rPr sz="1050" b="0" i="0">
                <a:solidFill>
                  <a:schemeClr val="accent1"/>
                </a:solidFill>
                <a:latin typeface="Arial"/>
                <a:hlinkClick r:id="rId3"/>
              </a:rPr>
              <a:t>Qi et al. 2025, functional properties of pea protein isolate</a:t>
            </a:r>
            <a:r>
              <a:rPr sz="1050" b="0" i="0">
                <a:solidFill>
                  <a:schemeClr val="accent5"/>
                </a:solidFill>
                <a:latin typeface="Arial"/>
              </a:rPr>
              <a:t>  [P]</a:t>
            </a:r>
          </a:p>
          <a:p>
            <a:pPr algn="l" marL="126682" indent="-126682">
              <a:spcAft>
                <a:spcPts val="300"/>
              </a:spcAft>
              <a:buSzPct val="100000"/>
              <a:buChar char="•"/>
            </a:pPr>
            <a:r>
              <a:rPr sz="1050" b="0" i="0">
                <a:solidFill>
                  <a:schemeClr val="accent1"/>
                </a:solidFill>
                <a:latin typeface="Arial"/>
                <a:hlinkClick r:id="rId4"/>
              </a:rPr>
              <a:t>Murugeswari 2023, aflatoxin B1 in Indian feed materials</a:t>
            </a:r>
            <a:r>
              <a:rPr sz="1050" b="0" i="0">
                <a:solidFill>
                  <a:schemeClr val="accent5"/>
                </a:solidFill>
                <a:latin typeface="Arial"/>
              </a:rPr>
              <a:t>  [P]</a:t>
            </a:r>
          </a:p>
          <a:p>
            <a:pPr algn="l" marL="126682" indent="-126682">
              <a:spcAft>
                <a:spcPts val="300"/>
              </a:spcAft>
              <a:buSzPct val="100000"/>
              <a:buChar char="•"/>
            </a:pPr>
            <a:r>
              <a:rPr sz="1050" b="0" i="0">
                <a:solidFill>
                  <a:schemeClr val="accent1"/>
                </a:solidFill>
                <a:latin typeface="Arial"/>
                <a:hlinkClick r:id="rId5"/>
              </a:rPr>
              <a:t>Singh et al. 2022, protein from oilseed cakes</a:t>
            </a:r>
            <a:r>
              <a:rPr sz="1050" b="0" i="0">
                <a:solidFill>
                  <a:schemeClr val="accent5"/>
                </a:solidFill>
                <a:latin typeface="Arial"/>
              </a:rPr>
              <a:t>  [context]</a:t>
            </a:r>
          </a:p>
          <a:p>
            <a:pPr algn="l" marL="126682" indent="-126682">
              <a:spcAft>
                <a:spcPts val="300"/>
              </a:spcAft>
              <a:buSzPct val="100000"/>
              <a:buChar char="•"/>
            </a:pPr>
            <a:r>
              <a:rPr sz="1050" b="0" i="0">
                <a:solidFill>
                  <a:schemeClr val="accent1"/>
                </a:solidFill>
                <a:latin typeface="Arial"/>
                <a:hlinkClick r:id="rId6"/>
              </a:rPr>
              <a:t>Detoxification of groundnut meals, Nature 1966</a:t>
            </a:r>
            <a:r>
              <a:rPr sz="1050" b="0" i="0">
                <a:solidFill>
                  <a:schemeClr val="accent5"/>
                </a:solidFill>
                <a:latin typeface="Arial"/>
              </a:rPr>
              <a:t>  [context]</a:t>
            </a:r>
          </a:p>
          <a:p>
            <a:pPr algn="l" marL="126682" indent="-126682">
              <a:spcAft>
                <a:spcPts val="300"/>
              </a:spcAft>
              <a:buSzPct val="100000"/>
              <a:buChar char="•"/>
            </a:pPr>
            <a:r>
              <a:rPr sz="1050" b="0" i="0">
                <a:solidFill>
                  <a:schemeClr val="accent1"/>
                </a:solidFill>
                <a:latin typeface="Arial"/>
                <a:hlinkClick r:id="rId7"/>
              </a:rPr>
              <a:t>El-Kady &amp; Farghaly, aflatoxin inactivation by heat</a:t>
            </a:r>
            <a:r>
              <a:rPr sz="1050" b="0" i="0">
                <a:solidFill>
                  <a:schemeClr val="accent5"/>
                </a:solidFill>
                <a:latin typeface="Arial"/>
              </a:rPr>
              <a:t>  [context]</a:t>
            </a:r>
          </a:p>
        </p:txBody>
      </p:sp>
      <p:sp>
        <p:nvSpPr>
          <p:cNvPr id="27" name="Text 94"/>
          <p:cNvSpPr txBox="1"/>
          <p:nvPr/>
        </p:nvSpPr>
        <p:spPr>
          <a:xfrm>
            <a:off x="6163056" y="1874519"/>
            <a:ext cx="5225796" cy="4343400"/>
          </a:xfrm>
          <a:prstGeom prst="rect">
            <a:avLst/>
          </a:prstGeom>
          <a:noFill/>
        </p:spPr>
        <p:txBody>
          <a:bodyPr wrap="square" anchor="t" lIns="0" rIns="0" tIns="0" bIns="0">
            <a:spAutoFit/>
          </a:bodyPr>
          <a:lstStyle/>
          <a:p>
            <a:pPr algn="l" marL="0" indent="0">
              <a:spcAft>
                <a:spcPts val="300"/>
              </a:spcAft>
              <a:buNone/>
            </a:pPr>
            <a:r>
              <a:rPr sz="1200" b="1" i="0">
                <a:solidFill>
                  <a:schemeClr val="tx2"/>
                </a:solidFill>
                <a:latin typeface="Arial"/>
              </a:rPr>
              <a:t>Market, trade and prices</a:t>
            </a:r>
          </a:p>
          <a:p>
            <a:pPr algn="l" marL="126682" indent="-126682">
              <a:spcAft>
                <a:spcPts val="300"/>
              </a:spcAft>
              <a:buSzPct val="100000"/>
              <a:buChar char="•"/>
            </a:pPr>
            <a:r>
              <a:rPr sz="1050" b="0" i="0">
                <a:solidFill>
                  <a:schemeClr val="accent1"/>
                </a:solidFill>
                <a:latin typeface="Arial"/>
                <a:hlinkClick r:id="rId8"/>
              </a:rPr>
              <a:t>PBFIA via Agron: ~90% imported; ₹4,500 → 9,000 crore</a:t>
            </a:r>
            <a:r>
              <a:rPr sz="1050" b="0" i="0">
                <a:solidFill>
                  <a:schemeClr val="accent5"/>
                </a:solidFill>
                <a:latin typeface="Arial"/>
              </a:rPr>
              <a:t>  [P]</a:t>
            </a:r>
          </a:p>
          <a:p>
            <a:pPr algn="l" marL="126682" indent="-126682">
              <a:spcAft>
                <a:spcPts val="300"/>
              </a:spcAft>
              <a:buSzPct val="100000"/>
              <a:buChar char="•"/>
            </a:pPr>
            <a:r>
              <a:rPr sz="1050" b="0" i="0">
                <a:solidFill>
                  <a:schemeClr val="accent1"/>
                </a:solidFill>
                <a:latin typeface="Arial"/>
                <a:hlinkClick r:id="rId9"/>
              </a:rPr>
              <a:t>GFI India orphan-crops whitepaper (vegconomist)</a:t>
            </a:r>
            <a:r>
              <a:rPr sz="1050" b="0" i="0">
                <a:solidFill>
                  <a:schemeClr val="accent5"/>
                </a:solidFill>
                <a:latin typeface="Arial"/>
              </a:rPr>
              <a:t>  [context]</a:t>
            </a:r>
          </a:p>
          <a:p>
            <a:pPr algn="l" marL="126682" indent="-126682">
              <a:spcAft>
                <a:spcPts val="300"/>
              </a:spcAft>
              <a:buSzPct val="100000"/>
              <a:buChar char="•"/>
            </a:pPr>
            <a:r>
              <a:rPr sz="1050" b="0" i="0">
                <a:solidFill>
                  <a:schemeClr val="accent1"/>
                </a:solidFill>
                <a:latin typeface="Arial"/>
                <a:hlinkClick r:id="rId10"/>
              </a:rPr>
              <a:t>Tridge: pea protein export prices, China</a:t>
            </a:r>
            <a:r>
              <a:rPr sz="1050" b="0" i="0">
                <a:solidFill>
                  <a:schemeClr val="accent5"/>
                </a:solidFill>
                <a:latin typeface="Arial"/>
              </a:rPr>
              <a:t>  [P]</a:t>
            </a:r>
          </a:p>
          <a:p>
            <a:pPr algn="l" marL="126682" indent="-126682">
              <a:spcAft>
                <a:spcPts val="300"/>
              </a:spcAft>
              <a:buSzPct val="100000"/>
              <a:buChar char="•"/>
            </a:pPr>
            <a:r>
              <a:rPr sz="1050" b="0" i="0">
                <a:solidFill>
                  <a:schemeClr val="accent1"/>
                </a:solidFill>
                <a:latin typeface="Arial"/>
                <a:hlinkClick r:id="rId11"/>
              </a:rPr>
              <a:t>USD/INR quotes (banklive.net)</a:t>
            </a:r>
            <a:r>
              <a:rPr sz="1050" b="0" i="0">
                <a:solidFill>
                  <a:schemeClr val="accent5"/>
                </a:solidFill>
                <a:latin typeface="Arial"/>
              </a:rPr>
              <a:t>  [P]</a:t>
            </a:r>
          </a:p>
          <a:p>
            <a:pPr algn="l" marL="126682" indent="-126682">
              <a:spcAft>
                <a:spcPts val="300"/>
              </a:spcAft>
              <a:buSzPct val="100000"/>
              <a:buChar char="•"/>
            </a:pPr>
            <a:r>
              <a:rPr sz="1050" b="0" i="0">
                <a:solidFill>
                  <a:schemeClr val="accent1"/>
                </a:solidFill>
                <a:latin typeface="Arial"/>
                <a:hlinkClick r:id="rId12"/>
              </a:rPr>
              <a:t>India tariff HS 35040099 (eximpe.com)</a:t>
            </a:r>
            <a:r>
              <a:rPr sz="1050" b="0" i="0">
                <a:solidFill>
                  <a:schemeClr val="accent5"/>
                </a:solidFill>
                <a:latin typeface="Arial"/>
              </a:rPr>
              <a:t>  [P]</a:t>
            </a:r>
          </a:p>
          <a:p>
            <a:pPr algn="l" marL="126682" indent="-126682">
              <a:spcAft>
                <a:spcPts val="300"/>
              </a:spcAft>
              <a:buSzPct val="100000"/>
              <a:buChar char="•"/>
            </a:pPr>
            <a:r>
              <a:rPr sz="1050" b="0" i="0">
                <a:solidFill>
                  <a:schemeClr val="accent1"/>
                </a:solidFill>
                <a:latin typeface="Arial"/>
                <a:hlinkClick r:id="rId13"/>
              </a:rPr>
              <a:t>IndiaMART pea protein isolate listings</a:t>
            </a:r>
            <a:r>
              <a:rPr sz="1050" b="0" i="0">
                <a:solidFill>
                  <a:schemeClr val="accent5"/>
                </a:solidFill>
                <a:latin typeface="Arial"/>
              </a:rPr>
              <a:t>  [P]</a:t>
            </a:r>
          </a:p>
          <a:p>
            <a:pPr algn="l" marL="126682" indent="-126682">
              <a:spcAft>
                <a:spcPts val="300"/>
              </a:spcAft>
              <a:buSzPct val="100000"/>
              <a:buChar char="•"/>
            </a:pPr>
            <a:r>
              <a:rPr sz="1050" b="0" i="0">
                <a:solidFill>
                  <a:schemeClr val="accent1"/>
                </a:solidFill>
                <a:latin typeface="Arial"/>
                <a:hlinkClick r:id="rId14"/>
              </a:rPr>
              <a:t>IndiaMART oilseed-cake trader listing</a:t>
            </a:r>
            <a:r>
              <a:rPr sz="1050" b="0" i="0">
                <a:solidFill>
                  <a:schemeClr val="accent5"/>
                </a:solidFill>
                <a:latin typeface="Arial"/>
              </a:rPr>
              <a:t>  [A]</a:t>
            </a:r>
          </a:p>
          <a:p>
            <a:pPr algn="l" marL="126682" indent="-126682">
              <a:spcAft>
                <a:spcPts val="300"/>
              </a:spcAft>
              <a:buSzPct val="100000"/>
              <a:buChar char="•"/>
            </a:pPr>
            <a:r>
              <a:rPr sz="1050" b="0" i="0">
                <a:solidFill>
                  <a:schemeClr val="accent1"/>
                </a:solidFill>
                <a:latin typeface="Arial"/>
                <a:hlinkClick r:id="rId15"/>
              </a:rPr>
              <a:t>EU provisional anti-dumping duties, Chinese pea protein</a:t>
            </a:r>
            <a:r>
              <a:rPr sz="1050" b="0" i="0">
                <a:solidFill>
                  <a:schemeClr val="accent5"/>
                </a:solidFill>
                <a:latin typeface="Arial"/>
              </a:rPr>
              <a:t>  [cited]</a:t>
            </a:r>
          </a:p>
          <a:p>
            <a:pPr algn="l" marL="126682" indent="-126682">
              <a:spcAft>
                <a:spcPts val="300"/>
              </a:spcAft>
              <a:buSzPct val="100000"/>
              <a:buChar char="•"/>
            </a:pPr>
            <a:r>
              <a:rPr sz="1050" b="0" i="0">
                <a:solidFill>
                  <a:schemeClr val="accent1"/>
                </a:solidFill>
                <a:latin typeface="Arial"/>
                <a:hlinkClick r:id="rId16"/>
              </a:rPr>
              <a:t>Canada CBSA pea protein measures</a:t>
            </a:r>
            <a:r>
              <a:rPr sz="1050" b="0" i="0">
                <a:solidFill>
                  <a:schemeClr val="accent5"/>
                </a:solidFill>
                <a:latin typeface="Arial"/>
              </a:rPr>
              <a:t>  [context]</a:t>
            </a:r>
          </a:p>
          <a:p>
            <a:pPr algn="l" marL="126682" indent="-126682">
              <a:spcAft>
                <a:spcPts val="1000"/>
              </a:spcAft>
              <a:buSzPct val="100000"/>
              <a:buChar char="•"/>
            </a:pPr>
            <a:r>
              <a:rPr sz="1050" b="0" i="0">
                <a:solidFill>
                  <a:schemeClr val="accent1"/>
                </a:solidFill>
                <a:latin typeface="Arial"/>
                <a:hlinkClick r:id="rId17"/>
              </a:rPr>
              <a:t>Expana Plant-Based Protein Report, March 2026</a:t>
            </a:r>
            <a:r>
              <a:rPr sz="1050" b="0" i="0">
                <a:solidFill>
                  <a:schemeClr val="accent5"/>
                </a:solidFill>
                <a:latin typeface="Arial"/>
              </a:rPr>
              <a:t>  [context]</a:t>
            </a:r>
          </a:p>
          <a:p>
            <a:pPr algn="l" marL="0" indent="0">
              <a:spcAft>
                <a:spcPts val="300"/>
              </a:spcAft>
              <a:buNone/>
            </a:pPr>
            <a:r>
              <a:rPr sz="1200" b="1" i="0">
                <a:solidFill>
                  <a:schemeClr val="tx2"/>
                </a:solidFill>
                <a:latin typeface="Arial"/>
              </a:rPr>
              <a:t>Labels</a:t>
            </a:r>
          </a:p>
          <a:p>
            <a:pPr algn="l" marL="126682" indent="-126682">
              <a:spcAft>
                <a:spcPts val="300"/>
              </a:spcAft>
              <a:buSzPct val="100000"/>
              <a:buChar char="•"/>
            </a:pPr>
            <a:r>
              <a:rPr sz="1050" b="0" i="0">
                <a:solidFill>
                  <a:schemeClr val="tx2"/>
                </a:solidFill>
                <a:latin typeface="Arial"/>
              </a:rPr>
              <a:t>P published · A assumed · M measured · S synthetic. Organiser datasets: next slide.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71500" y="1016000"/>
            <a:ext cx="9525000" cy="825500"/>
          </a:xfrm>
          <a:prstGeom prst="rect">
            <a:avLst/>
          </a:prstGeom>
          <a:noFill/>
          <a:ln/>
        </p:spPr>
        <p:txBody>
          <a:bodyPr wrap="square" lIns="0" tIns="0" rIns="0" bIns="0" rtlCol="0" anchor="ctr"/>
          <a:lstStyle/>
          <a:p>
            <a:pPr marL="0" indent="0" algn="l">
              <a:buNone/>
            </a:pPr>
            <a:r>
              <a:rPr lang="en-US" sz="4200" b="1" dirty="0">
                <a:solidFill>
                  <a:schemeClr val="tx2"/>
                </a:solidFill>
                <a:latin typeface="Arial" pitchFamily="34" charset="0"/>
                <a:ea typeface="Arial" pitchFamily="34" charset="-122"/>
                <a:cs typeface="Arial" pitchFamily="34" charset="-120"/>
              </a:rPr>
              <a:t>References (2/2)</a:t>
            </a:r>
            <a:endParaRPr lang="en-US" sz="4200" dirty="0"/>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1B1464"/>
                </a:solidFill>
                <a:latin typeface="Arial"/>
                <a:ea typeface="Arial"/>
                <a:cs typeface="Arial"/>
              </a:defRPr>
            </a:lvl1pPr>
          </a:lstStyle>
          <a:p>
            <a:pPr algn="r"/>
            <a:fld id="{F7021451-1387-4CA6-816F-3879F97B5CBC}" type="slidenum">
              <a:rPr lang="en-US" b="0"/>
              <a:t>9</a:t>
            </a:fld>
            <a:endParaRPr lang="en-US"/>
          </a:p>
        </p:txBody>
      </p:sp>
      <p:sp>
        <p:nvSpPr>
          <p:cNvPr id="26" name="Text 95"/>
          <p:cNvSpPr txBox="1"/>
          <p:nvPr/>
        </p:nvSpPr>
        <p:spPr>
          <a:xfrm>
            <a:off x="571500" y="1874519"/>
            <a:ext cx="5225796" cy="4343400"/>
          </a:xfrm>
          <a:prstGeom prst="rect">
            <a:avLst/>
          </a:prstGeom>
          <a:noFill/>
        </p:spPr>
        <p:txBody>
          <a:bodyPr wrap="square" anchor="t" lIns="0" rIns="0" tIns="0" bIns="0">
            <a:spAutoFit/>
          </a:bodyPr>
          <a:lstStyle/>
          <a:p>
            <a:pPr algn="l" marL="0" indent="0">
              <a:spcAft>
                <a:spcPts val="300"/>
              </a:spcAft>
              <a:buNone/>
            </a:pPr>
            <a:r>
              <a:rPr sz="1200" b="1" i="0">
                <a:solidFill>
                  <a:schemeClr val="tx2"/>
                </a:solidFill>
                <a:latin typeface="Arial"/>
              </a:rPr>
              <a:t>Organiser datasets (listed; no values drawn yet)</a:t>
            </a:r>
          </a:p>
          <a:p>
            <a:pPr algn="l" marL="126682" indent="-126682">
              <a:spcAft>
                <a:spcPts val="300"/>
              </a:spcAft>
              <a:buSzPct val="100000"/>
              <a:buChar char="•"/>
            </a:pPr>
            <a:r>
              <a:rPr sz="1050" b="0" i="0">
                <a:solidFill>
                  <a:schemeClr val="accent1"/>
                </a:solidFill>
                <a:latin typeface="Arial"/>
                <a:hlinkClick r:id="rId2"/>
              </a:rPr>
              <a:t>FAOSTAT</a:t>
            </a:r>
          </a:p>
          <a:p>
            <a:pPr algn="l" marL="126682" indent="-126682">
              <a:spcAft>
                <a:spcPts val="300"/>
              </a:spcAft>
              <a:buSzPct val="100000"/>
              <a:buChar char="•"/>
            </a:pPr>
            <a:r>
              <a:rPr sz="1050" b="0" i="0">
                <a:solidFill>
                  <a:schemeClr val="accent1"/>
                </a:solidFill>
                <a:latin typeface="Arial"/>
                <a:hlinkClick r:id="rId3"/>
              </a:rPr>
              <a:t>IFCT 2017 via @nodef/ifct2017</a:t>
            </a:r>
          </a:p>
          <a:p>
            <a:pPr algn="l" marL="126682" indent="-126682">
              <a:spcAft>
                <a:spcPts val="300"/>
              </a:spcAft>
              <a:buSzPct val="100000"/>
              <a:buChar char="•"/>
            </a:pPr>
            <a:r>
              <a:rPr sz="1050" b="0" i="0">
                <a:solidFill>
                  <a:schemeClr val="accent1"/>
                </a:solidFill>
                <a:latin typeface="Arial"/>
                <a:hlinkClick r:id="rId4"/>
              </a:rPr>
              <a:t>USDA FoodData Central</a:t>
            </a:r>
          </a:p>
          <a:p>
            <a:pPr algn="l" marL="126682" indent="-126682">
              <a:spcAft>
                <a:spcPts val="300"/>
              </a:spcAft>
              <a:buSzPct val="100000"/>
              <a:buChar char="•"/>
            </a:pPr>
            <a:r>
              <a:rPr sz="1050" b="0" i="0">
                <a:solidFill>
                  <a:schemeClr val="accent1"/>
                </a:solidFill>
                <a:latin typeface="Arial"/>
                <a:hlinkClick r:id="rId5"/>
              </a:rPr>
              <a:t>USDA FoodData Central downloads</a:t>
            </a:r>
          </a:p>
          <a:p>
            <a:pPr algn="l" marL="126682" indent="-126682">
              <a:spcAft>
                <a:spcPts val="300"/>
              </a:spcAft>
              <a:buSzPct val="100000"/>
              <a:buChar char="•"/>
            </a:pPr>
            <a:r>
              <a:rPr sz="1050" b="0" i="0">
                <a:solidFill>
                  <a:schemeClr val="accent1"/>
                </a:solidFill>
                <a:latin typeface="Arial"/>
                <a:hlinkClick r:id="rId6"/>
              </a:rPr>
              <a:t>FooDB</a:t>
            </a:r>
          </a:p>
          <a:p>
            <a:pPr algn="l" marL="126682" indent="-126682">
              <a:spcAft>
                <a:spcPts val="300"/>
              </a:spcAft>
              <a:buSzPct val="100000"/>
              <a:buChar char="•"/>
            </a:pPr>
            <a:r>
              <a:rPr sz="1050" b="0" i="0">
                <a:solidFill>
                  <a:schemeClr val="accent1"/>
                </a:solidFill>
                <a:latin typeface="Arial"/>
                <a:hlinkClick r:id="rId7"/>
              </a:rPr>
              <a:t>Open Food Facts</a:t>
            </a:r>
          </a:p>
          <a:p>
            <a:pPr algn="l" marL="126682" indent="-126682">
              <a:spcAft>
                <a:spcPts val="300"/>
              </a:spcAft>
              <a:buSzPct val="100000"/>
              <a:buChar char="•"/>
            </a:pPr>
            <a:r>
              <a:rPr sz="1050" b="0" i="0">
                <a:solidFill>
                  <a:schemeClr val="accent1"/>
                </a:solidFill>
                <a:latin typeface="Arial"/>
                <a:hlinkClick r:id="rId8"/>
              </a:rPr>
              <a:t>AGMARKNET</a:t>
            </a:r>
          </a:p>
          <a:p>
            <a:pPr algn="l" marL="126682" indent="-126682">
              <a:spcAft>
                <a:spcPts val="300"/>
              </a:spcAft>
              <a:buSzPct val="100000"/>
              <a:buChar char="•"/>
            </a:pPr>
            <a:r>
              <a:rPr sz="1050" b="0" i="0">
                <a:solidFill>
                  <a:schemeClr val="accent1"/>
                </a:solidFill>
                <a:latin typeface="Arial"/>
                <a:hlinkClick r:id="rId9"/>
              </a:rPr>
              <a:t>data.gov.in: mandi daily prices</a:t>
            </a:r>
          </a:p>
          <a:p>
            <a:pPr algn="l" marL="126682" indent="-126682">
              <a:spcAft>
                <a:spcPts val="1000"/>
              </a:spcAft>
              <a:buSzPct val="100000"/>
              <a:buChar char="•"/>
            </a:pPr>
            <a:r>
              <a:rPr sz="1050" b="0" i="0">
                <a:solidFill>
                  <a:schemeClr val="accent1"/>
                </a:solidFill>
                <a:latin typeface="Arial"/>
                <a:hlinkClick r:id="rId10"/>
              </a:rPr>
              <a:t>data.gov.in: variety-wise daily prices</a:t>
            </a:r>
          </a:p>
          <a:p>
            <a:pPr algn="l" marL="0" indent="0">
              <a:spcAft>
                <a:spcPts val="300"/>
              </a:spcAft>
              <a:buNone/>
            </a:pPr>
            <a:r>
              <a:rPr sz="1200" b="1" i="0">
                <a:solidFill>
                  <a:schemeClr val="tx2"/>
                </a:solidFill>
                <a:latin typeface="Arial"/>
              </a:rPr>
              <a:t>Code and data</a:t>
            </a:r>
          </a:p>
          <a:p>
            <a:pPr algn="l" marL="126682" indent="-126682">
              <a:spcAft>
                <a:spcPts val="300"/>
              </a:spcAft>
              <a:buSzPct val="100000"/>
              <a:buChar char="•"/>
            </a:pPr>
            <a:r>
              <a:rPr sz="1050" b="0" i="0">
                <a:solidFill>
                  <a:schemeClr val="accent1"/>
                </a:solidFill>
                <a:latin typeface="Arial"/>
                <a:hlinkClick r:id="rId11"/>
              </a:rPr>
              <a:t>Upcycle Compass repository</a:t>
            </a:r>
            <a:r>
              <a:rPr sz="1050" b="0" i="0">
                <a:solidFill>
                  <a:schemeClr val="accent5"/>
                </a:solidFill>
                <a:latin typeface="Arial"/>
              </a:rPr>
              <a:t>  [make public first]</a:t>
            </a:r>
          </a:p>
          <a:p>
            <a:pPr algn="l" marL="126682" indent="-126682">
              <a:spcAft>
                <a:spcPts val="300"/>
              </a:spcAft>
              <a:buSzPct val="100000"/>
              <a:buChar char="•"/>
            </a:pPr>
            <a:r>
              <a:rPr sz="1050" b="0" i="0">
                <a:solidFill>
                  <a:schemeClr val="tx2"/>
                </a:solidFill>
                <a:latin typeface="Arial"/>
              </a:rPr>
              <a:t>Open data pack: linked in the app footer</a:t>
            </a:r>
          </a:p>
        </p:txBody>
      </p:sp>
      <p:sp>
        <p:nvSpPr>
          <p:cNvPr id="27" name="Text 96"/>
          <p:cNvSpPr txBox="1"/>
          <p:nvPr/>
        </p:nvSpPr>
        <p:spPr>
          <a:xfrm>
            <a:off x="6163056" y="1874519"/>
            <a:ext cx="5225796" cy="4343400"/>
          </a:xfrm>
          <a:prstGeom prst="rect">
            <a:avLst/>
          </a:prstGeom>
          <a:noFill/>
        </p:spPr>
        <p:txBody>
          <a:bodyPr wrap="square" anchor="t" lIns="0" rIns="0" tIns="0" bIns="0">
            <a:spAutoFit/>
          </a:bodyPr>
          <a:lstStyle/>
          <a:p>
            <a:pPr algn="l" marL="0" indent="0">
              <a:spcAft>
                <a:spcPts val="300"/>
              </a:spcAft>
              <a:buNone/>
            </a:pPr>
            <a:r>
              <a:rPr sz="1200" b="1" i="0">
                <a:solidFill>
                  <a:schemeClr val="tx2"/>
                </a:solidFill>
                <a:latin typeface="Arial"/>
              </a:rPr>
              <a:t>AI tools</a:t>
            </a:r>
          </a:p>
          <a:p>
            <a:pPr algn="l" marL="126682" indent="-126682">
              <a:spcAft>
                <a:spcPts val="300"/>
              </a:spcAft>
              <a:buSzPct val="100000"/>
              <a:buChar char="•"/>
            </a:pPr>
            <a:r>
              <a:rPr sz="1050" b="0" i="0">
                <a:solidFill>
                  <a:schemeClr val="accent1"/>
                </a:solidFill>
                <a:latin typeface="Arial"/>
                <a:hlinkClick r:id="rId12"/>
              </a:rPr>
              <a:t>Amazon Bedrock, model [fill in BEDROCK_MODEL_ID]</a:t>
            </a:r>
            <a:r>
              <a:rPr sz="1050" b="0" i="0">
                <a:solidFill>
                  <a:schemeClr val="accent5"/>
                </a:solidFill>
                <a:latin typeface="Arial"/>
              </a:rPr>
              <a:t>  [optional LLM]</a:t>
            </a:r>
          </a:p>
          <a:p>
            <a:pPr algn="l" marL="126682" indent="-126682">
              <a:spcAft>
                <a:spcPts val="300"/>
              </a:spcAft>
              <a:buSzPct val="100000"/>
              <a:buChar char="•"/>
            </a:pPr>
            <a:r>
              <a:rPr sz="1050" b="0" i="0">
                <a:solidFill>
                  <a:schemeClr val="accent1"/>
                </a:solidFill>
                <a:latin typeface="Arial"/>
                <a:hlinkClick r:id="rId13"/>
              </a:rPr>
              <a:t>Groq</a:t>
            </a:r>
            <a:r>
              <a:rPr sz="1050" b="0" i="0">
                <a:solidFill>
                  <a:schemeClr val="accent5"/>
                </a:solidFill>
                <a:latin typeface="Arial"/>
              </a:rPr>
              <a:t>  [optional alternative]</a:t>
            </a:r>
          </a:p>
          <a:p>
            <a:pPr algn="l" marL="126682" indent="-126682">
              <a:spcAft>
                <a:spcPts val="300"/>
              </a:spcAft>
              <a:buSzPct val="100000"/>
              <a:buChar char="•"/>
            </a:pPr>
            <a:r>
              <a:rPr sz="1050" b="0" i="0">
                <a:solidFill>
                  <a:schemeClr val="accent1"/>
                </a:solidFill>
                <a:latin typeface="Arial"/>
                <a:hlinkClick r:id="rId14"/>
              </a:rPr>
              <a:t>Claude Code (Anthropic), AI coding assistant</a:t>
            </a:r>
            <a:r>
              <a:rPr sz="1050" b="0" i="0">
                <a:solidFill>
                  <a:schemeClr val="accent5"/>
                </a:solidFill>
                <a:latin typeface="Arial"/>
              </a:rPr>
              <a:t>  [built the code]</a:t>
            </a:r>
          </a:p>
          <a:p>
            <a:pPr algn="l" marL="126682" indent="-126682">
              <a:spcAft>
                <a:spcPts val="300"/>
              </a:spcAft>
              <a:buSzPct val="100000"/>
              <a:buChar char="•"/>
            </a:pPr>
            <a:r>
              <a:rPr sz="1050" b="0" i="0">
                <a:solidFill>
                  <a:schemeClr val="accent1"/>
                </a:solidFill>
                <a:latin typeface="Arial"/>
                <a:hlinkClick r:id="rId15"/>
              </a:rPr>
              <a:t>Web Speech API (browser speech input)</a:t>
            </a:r>
          </a:p>
          <a:p>
            <a:pPr algn="l" marL="126682" indent="-126682">
              <a:spcAft>
                <a:spcPts val="1000"/>
              </a:spcAft>
              <a:buSzPct val="100000"/>
              <a:buChar char="•"/>
            </a:pPr>
            <a:r>
              <a:rPr sz="1050" b="0" i="0">
                <a:solidFill>
                  <a:schemeClr val="tx2"/>
                </a:solidFill>
                <a:latin typeface="Arial"/>
              </a:rPr>
              <a:t>BHASHINI</a:t>
            </a:r>
            <a:r>
              <a:rPr sz="1050" b="0" i="0">
                <a:solidFill>
                  <a:schemeClr val="accent5"/>
                </a:solidFill>
                <a:latin typeface="Arial"/>
              </a:rPr>
              <a:t>  [not used]</a:t>
            </a:r>
          </a:p>
          <a:p>
            <a:pPr algn="l" marL="0" indent="0">
              <a:spcAft>
                <a:spcPts val="300"/>
              </a:spcAft>
              <a:buNone/>
            </a:pPr>
            <a:r>
              <a:rPr sz="1200" b="1" i="0">
                <a:solidFill>
                  <a:schemeClr val="tx2"/>
                </a:solidFill>
                <a:latin typeface="Arial"/>
              </a:rPr>
              <a:t>Software</a:t>
            </a:r>
          </a:p>
          <a:p>
            <a:pPr algn="l" marL="126682" indent="-126682">
              <a:spcAft>
                <a:spcPts val="300"/>
              </a:spcAft>
              <a:buSzPct val="100000"/>
              <a:buChar char="•"/>
            </a:pPr>
            <a:r>
              <a:rPr sz="1050" b="0" i="0">
                <a:solidFill>
                  <a:schemeClr val="accent1"/>
                </a:solidFill>
                <a:latin typeface="Arial"/>
                <a:hlinkClick r:id="rId16"/>
              </a:rPr>
              <a:t>FastAPI, Starlette, Uvicorn, Pydantic</a:t>
            </a:r>
          </a:p>
          <a:p>
            <a:pPr algn="l" marL="126682" indent="-126682">
              <a:spcAft>
                <a:spcPts val="300"/>
              </a:spcAft>
              <a:buSzPct val="100000"/>
              <a:buChar char="•"/>
            </a:pPr>
            <a:r>
              <a:rPr sz="1050" b="0" i="0">
                <a:solidFill>
                  <a:schemeClr val="accent1"/>
                </a:solidFill>
                <a:latin typeface="Arial"/>
                <a:hlinkClick r:id="rId17"/>
              </a:rPr>
              <a:t>NumPy, SciPy, pandas</a:t>
            </a:r>
          </a:p>
          <a:p>
            <a:pPr algn="l" marL="126682" indent="-126682">
              <a:spcAft>
                <a:spcPts val="300"/>
              </a:spcAft>
              <a:buSzPct val="100000"/>
              <a:buChar char="•"/>
            </a:pPr>
            <a:r>
              <a:rPr sz="1050" b="0" i="0">
                <a:solidFill>
                  <a:schemeClr val="accent1"/>
                </a:solidFill>
                <a:latin typeface="Arial"/>
                <a:hlinkClick r:id="rId18"/>
              </a:rPr>
              <a:t>boto3 (AWS SDK for Python)</a:t>
            </a:r>
          </a:p>
          <a:p>
            <a:pPr algn="l" marL="126682" indent="-126682">
              <a:spcAft>
                <a:spcPts val="300"/>
              </a:spcAft>
              <a:buSzPct val="100000"/>
              <a:buChar char="•"/>
            </a:pPr>
            <a:r>
              <a:rPr sz="1050" b="0" i="0">
                <a:solidFill>
                  <a:schemeClr val="accent1"/>
                </a:solidFill>
                <a:latin typeface="Arial"/>
                <a:hlinkClick r:id="rId19"/>
              </a:rPr>
              <a:t>React 18, TypeScript, Vite</a:t>
            </a:r>
          </a:p>
          <a:p>
            <a:pPr algn="l" marL="126682" indent="-126682">
              <a:spcAft>
                <a:spcPts val="300"/>
              </a:spcAft>
              <a:buSzPct val="100000"/>
              <a:buChar char="•"/>
            </a:pPr>
            <a:r>
              <a:rPr sz="1050" b="0" i="0">
                <a:solidFill>
                  <a:schemeClr val="accent1"/>
                </a:solidFill>
                <a:latin typeface="Arial"/>
                <a:hlinkClick r:id="rId20"/>
              </a:rPr>
              <a:t>Tailwind CSS</a:t>
            </a:r>
          </a:p>
          <a:p>
            <a:pPr algn="l" marL="126682" indent="-126682">
              <a:spcAft>
                <a:spcPts val="300"/>
              </a:spcAft>
              <a:buSzPct val="100000"/>
              <a:buChar char="•"/>
            </a:pPr>
            <a:r>
              <a:rPr sz="1050" b="0" i="0">
                <a:solidFill>
                  <a:schemeClr val="accent1"/>
                </a:solidFill>
                <a:latin typeface="Arial"/>
                <a:hlinkClick r:id="rId21"/>
              </a:rPr>
              <a:t>TanStack Query, Zustand, React Hook Form, Zod</a:t>
            </a:r>
          </a:p>
          <a:p>
            <a:pPr algn="l" marL="126682" indent="-126682">
              <a:spcAft>
                <a:spcPts val="300"/>
              </a:spcAft>
              <a:buSzPct val="100000"/>
              <a:buChar char="•"/>
            </a:pPr>
            <a:r>
              <a:rPr sz="1050" b="0" i="0">
                <a:solidFill>
                  <a:schemeClr val="accent1"/>
                </a:solidFill>
                <a:latin typeface="Arial"/>
                <a:hlinkClick r:id="rId22"/>
              </a:rPr>
              <a:t>Radix UI, i18next</a:t>
            </a:r>
          </a:p>
          <a:p>
            <a:pPr algn="l" marL="126682" indent="-126682">
              <a:spcAft>
                <a:spcPts val="300"/>
              </a:spcAft>
              <a:buSzPct val="100000"/>
              <a:buChar char="•"/>
            </a:pPr>
            <a:r>
              <a:rPr sz="1050" b="0" i="0">
                <a:solidFill>
                  <a:schemeClr val="accent1"/>
                </a:solidFill>
                <a:latin typeface="Arial"/>
                <a:hlinkClick r:id="rId23"/>
              </a:rPr>
              <a:t>pytest, Hypothesis, Vitest, Playwright, axe-core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5500" y="2857500"/>
            <a:ext cx="7302500" cy="1651000"/>
          </a:xfrm>
          <a:prstGeom prst="rect">
            <a:avLst/>
          </a:prstGeom>
          <a:noFill/>
          <a:ln/>
        </p:spPr>
        <p:txBody>
          <a:bodyPr wrap="square" lIns="0" tIns="0" rIns="0" bIns="0" rtlCol="0" anchor="ctr"/>
          <a:lstStyle/>
          <a:p>
            <a:pPr marL="0" indent="0" algn="l">
              <a:buNone/>
            </a:pPr>
            <a:r>
              <a:rPr lang="en-US" sz="8000" b="1" dirty="0">
                <a:solidFill>
                  <a:schemeClr val="bg1"/>
                </a:solidFill>
                <a:latin typeface="Arial" pitchFamily="34" charset="0"/>
                <a:ea typeface="Arial" pitchFamily="34" charset="-122"/>
                <a:cs typeface="Arial" pitchFamily="34" charset="-120"/>
              </a:rPr>
              <a:t>Thank You</a:t>
            </a:r>
            <a:endParaRPr lang="en-US" sz="8000" dirty="0"/>
          </a:p>
        </p:txBody>
      </p:sp>
    </p:spTree>
  </p:cSld>
  <p:clrMapOvr>
    <a:masterClrMapping/>
  </p:clrMapOvr>
</p:sld>
</file>

<file path=ppt/theme/theme1.xml><?xml version="1.0" encoding="utf-8"?>
<a:theme xmlns:a="http://schemas.openxmlformats.org/drawingml/2006/main" name="Hack the Fork 2026">
  <a:themeElements>
    <a:clrScheme name="Hack the Fork 2026">
      <a:dk1>
        <a:srgbClr val="000000"/>
      </a:dk1>
      <a:lt1>
        <a:srgbClr val="FFFFFF"/>
      </a:lt1>
      <a:dk2>
        <a:srgbClr val="1B1464"/>
      </a:dk2>
      <a:lt2>
        <a:srgbClr val="EEEEF9"/>
      </a:lt2>
      <a:accent1>
        <a:srgbClr val="1B1BE8"/>
      </a:accent1>
      <a:accent2>
        <a:srgbClr val="07078C"/>
      </a:accent2>
      <a:accent3>
        <a:srgbClr val="FEE600"/>
      </a:accent3>
      <a:accent4>
        <a:srgbClr val="BABADF"/>
      </a:accent4>
      <a:accent5>
        <a:srgbClr val="4A4A68"/>
      </a:accent5>
      <a:accent6>
        <a:srgbClr val="11112A"/>
      </a:accent6>
      <a:hlink>
        <a:srgbClr val="1B1BE8"/>
      </a:hlink>
      <a:folHlink>
        <a:srgbClr val="07078C"/>
      </a:folHlink>
    </a:clrScheme>
    <a:fontScheme name="Hack the Fork 2026">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TotalTime>
  <Words>928</Words>
  <Application>Microsoft Office PowerPoint</Application>
  <PresentationFormat>Widescreen</PresentationFormat>
  <Paragraphs>65</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Hack the Fork 2026</vt:lpstr>
      <vt:lpstr>Project Name</vt:lpstr>
      <vt:lpstr>The Problem </vt:lpstr>
      <vt:lpstr>Our Solution </vt:lpstr>
      <vt:lpstr>The model</vt:lpstr>
      <vt:lpstr>Prototype Demo</vt:lpstr>
      <vt:lpstr>Data and Assumptions</vt:lpstr>
      <vt:lpstr>Projected Impact (optional)</vt:lpstr>
      <vt:lpstr>Limitations and Next Steps</vt:lpstr>
      <vt:lpstr>References</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 the Fork 2026 India Edition Pitch Deck Template</dc:title>
  <dc:subject>PptxGenJS Presentation</dc:subject>
  <dc:creator>Hack the Fork NIFTEM-K</dc:creator>
  <cp:lastModifiedBy>Priyanshu Raj</cp:lastModifiedBy>
  <cp:revision>4</cp:revision>
  <dcterms:created xsi:type="dcterms:W3CDTF">2026-10-23T22:04:26Z</dcterms:created>
  <dcterms:modified xsi:type="dcterms:W3CDTF">2026-10-24T12:04:20Z</dcterms:modified>
</cp:coreProperties>
</file>